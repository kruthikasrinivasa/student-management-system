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43" y="6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hyperlink" Target="https://student-management-api-qjhd.onrender.com/" TargetMode="External"/><Relationship Id="rId2" Type="http://schemas.openxmlformats.org/officeDocument/2006/relationships/hyperlink" Target="https://student-management-system-ijhy.onrender.com/"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kruthikasrinivasa/student-management-syste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30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97918" y="1910545"/>
            <a:ext cx="4431021" cy="353943"/>
          </a:xfrm>
          <a:prstGeom prst="rect">
            <a:avLst/>
          </a:prstGeom>
          <a:noFill/>
        </p:spPr>
        <p:txBody>
          <a:bodyPr wrap="none">
            <a:spAutoFit/>
          </a:bodyPr>
          <a:lstStyle/>
          <a:p>
            <a:pPr algn="ctr">
              <a:defRPr sz="1700" b="1">
                <a:solidFill>
                  <a:srgbClr val="C9A45B"/>
                </a:solidFill>
                <a:latin typeface="Aptos"/>
              </a:defRPr>
            </a:pPr>
            <a:r>
              <a:rPr dirty="0">
                <a:solidFill>
                  <a:srgbClr val="0070C0"/>
                </a:solidFill>
                <a:latin typeface="Times New Roman" panose="02020603050405020304" pitchFamily="18" charset="0"/>
                <a:cs typeface="Times New Roman" panose="02020603050405020304" pitchFamily="18" charset="0"/>
              </a:rPr>
              <a:t>AITECH</a:t>
            </a:r>
            <a:r>
              <a:rPr dirty="0">
                <a:latin typeface="Times New Roman" panose="02020603050405020304" pitchFamily="18" charset="0"/>
                <a:cs typeface="Times New Roman" panose="02020603050405020304" pitchFamily="18" charset="0"/>
              </a:rPr>
              <a:t>GEN </a:t>
            </a:r>
            <a:r>
              <a:rPr dirty="0">
                <a:solidFill>
                  <a:srgbClr val="0070C0"/>
                </a:solidFill>
                <a:latin typeface="Times New Roman" panose="02020603050405020304" pitchFamily="18" charset="0"/>
                <a:cs typeface="Times New Roman" panose="02020603050405020304" pitchFamily="18" charset="0"/>
              </a:rPr>
              <a:t>TECHNOLOGIES PVT. LTD</a:t>
            </a:r>
            <a:r>
              <a:rPr dirty="0">
                <a:solidFill>
                  <a:srgbClr val="0070C0"/>
                </a:solidFill>
              </a:rPr>
              <a:t>.</a:t>
            </a:r>
          </a:p>
        </p:txBody>
      </p:sp>
      <p:sp>
        <p:nvSpPr>
          <p:cNvPr id="5" name="TextBox 4"/>
          <p:cNvSpPr txBox="1"/>
          <p:nvPr/>
        </p:nvSpPr>
        <p:spPr>
          <a:xfrm>
            <a:off x="2691736" y="2359460"/>
            <a:ext cx="7750712" cy="630942"/>
          </a:xfrm>
          <a:prstGeom prst="rect">
            <a:avLst/>
          </a:prstGeom>
          <a:noFill/>
        </p:spPr>
        <p:txBody>
          <a:bodyPr wrap="none">
            <a:spAutoFit/>
          </a:bodyPr>
          <a:lstStyle/>
          <a:p>
            <a:pPr>
              <a:defRPr sz="3500" b="1">
                <a:solidFill>
                  <a:srgbClr val="FFFFFF"/>
                </a:solidFill>
                <a:latin typeface="Aptos Display"/>
              </a:defRPr>
            </a:pPr>
            <a:r>
              <a:rPr dirty="0">
                <a:latin typeface="Times New Roman" panose="02020603050405020304" pitchFamily="18" charset="0"/>
                <a:cs typeface="Times New Roman" panose="02020603050405020304" pitchFamily="18" charset="0"/>
              </a:rPr>
              <a:t>STUDENT MANAGEMENT SYSTEM</a:t>
            </a:r>
          </a:p>
        </p:txBody>
      </p:sp>
      <p:sp>
        <p:nvSpPr>
          <p:cNvPr id="6" name="TextBox 5"/>
          <p:cNvSpPr txBox="1"/>
          <p:nvPr/>
        </p:nvSpPr>
        <p:spPr>
          <a:xfrm>
            <a:off x="3495586" y="3136069"/>
            <a:ext cx="5816272" cy="353943"/>
          </a:xfrm>
          <a:prstGeom prst="rect">
            <a:avLst/>
          </a:prstGeom>
          <a:noFill/>
        </p:spPr>
        <p:txBody>
          <a:bodyPr wrap="none">
            <a:spAutoFit/>
          </a:bodyPr>
          <a:lstStyle/>
          <a:p>
            <a:pPr>
              <a:defRPr sz="1700">
                <a:solidFill>
                  <a:srgbClr val="E7D7D7"/>
                </a:solidFill>
                <a:latin typeface="Aptos"/>
              </a:defRPr>
            </a:pPr>
            <a:r>
              <a:rPr dirty="0">
                <a:latin typeface="Times New Roman" panose="02020603050405020304" pitchFamily="18" charset="0"/>
                <a:cs typeface="Times New Roman" panose="02020603050405020304" pitchFamily="18" charset="0"/>
              </a:rPr>
              <a:t>Internship Project Presentation  |  MERN Stack Web Application</a:t>
            </a:r>
          </a:p>
        </p:txBody>
      </p:sp>
      <p:sp>
        <p:nvSpPr>
          <p:cNvPr id="7" name="Rounded Rectangle 6"/>
          <p:cNvSpPr/>
          <p:nvPr/>
        </p:nvSpPr>
        <p:spPr>
          <a:xfrm>
            <a:off x="3934160" y="4002045"/>
            <a:ext cx="4758535" cy="132588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a:xfrm>
            <a:off x="3807069" y="4002045"/>
            <a:ext cx="127091" cy="132588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41051" y="4119287"/>
            <a:ext cx="673582" cy="307777"/>
          </a:xfrm>
          <a:prstGeom prst="rect">
            <a:avLst/>
          </a:prstGeom>
          <a:noFill/>
        </p:spPr>
        <p:txBody>
          <a:bodyPr wrap="none">
            <a:spAutoFit/>
          </a:bodyPr>
          <a:lstStyle/>
          <a:p>
            <a:pPr>
              <a:defRPr sz="1400" b="1">
                <a:solidFill>
                  <a:srgbClr val="581423"/>
                </a:solidFill>
                <a:latin typeface="Aptos Display"/>
              </a:defRPr>
            </a:pPr>
            <a:r>
              <a:rPr dirty="0">
                <a:latin typeface="Times New Roman" panose="02020603050405020304" pitchFamily="18" charset="0"/>
                <a:cs typeface="Times New Roman" panose="02020603050405020304" pitchFamily="18" charset="0"/>
              </a:rPr>
              <a:t>Intern</a:t>
            </a:r>
          </a:p>
        </p:txBody>
      </p:sp>
      <p:sp>
        <p:nvSpPr>
          <p:cNvPr id="10" name="TextBox 9"/>
          <p:cNvSpPr txBox="1"/>
          <p:nvPr/>
        </p:nvSpPr>
        <p:spPr>
          <a:xfrm>
            <a:off x="4541051" y="4549140"/>
            <a:ext cx="4572000" cy="692497"/>
          </a:xfrm>
          <a:prstGeom prst="rect">
            <a:avLst/>
          </a:prstGeom>
          <a:noFill/>
        </p:spPr>
        <p:txBody>
          <a:bodyPr wrap="square">
            <a:spAutoFit/>
          </a:bodyPr>
          <a:lstStyle/>
          <a:p>
            <a:pPr>
              <a:defRPr sz="1300">
                <a:solidFill>
                  <a:srgbClr val="302A2A"/>
                </a:solidFill>
                <a:latin typeface="Aptos"/>
              </a:defRPr>
            </a:pPr>
            <a:r>
              <a:rPr dirty="0">
                <a:latin typeface="Times New Roman" panose="02020603050405020304" pitchFamily="18" charset="0"/>
                <a:cs typeface="Times New Roman" panose="02020603050405020304" pitchFamily="18" charset="0"/>
              </a:rPr>
              <a:t>Kruthika S</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Internship Period: September 2026</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Project Duration: 2 Weeks</a:t>
            </a:r>
          </a:p>
        </p:txBody>
      </p:sp>
      <p:pic>
        <p:nvPicPr>
          <p:cNvPr id="11" name="Picture 10" descr="Generative AI Consultant Analyst in Accenture India Private Limited ...">
            <a:extLst>
              <a:ext uri="{FF2B5EF4-FFF2-40B4-BE49-F238E27FC236}">
                <a16:creationId xmlns:a16="http://schemas.microsoft.com/office/drawing/2014/main" id="{EA1A3597-B3DA-09DA-6739-7A9B7374CA9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0971" y="470750"/>
            <a:ext cx="4165502" cy="123139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576988"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Project Overview</a:t>
            </a:r>
          </a:p>
        </p:txBody>
      </p:sp>
      <p:sp>
        <p:nvSpPr>
          <p:cNvPr id="5" name="TextBox 4"/>
          <p:cNvSpPr txBox="1"/>
          <p:nvPr/>
        </p:nvSpPr>
        <p:spPr>
          <a:xfrm>
            <a:off x="621792" y="932688"/>
            <a:ext cx="1620957"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What was built and why</a:t>
            </a:r>
          </a:p>
        </p:txBody>
      </p:sp>
      <p:sp>
        <p:nvSpPr>
          <p:cNvPr id="6" name="Rounded Rectangle 5"/>
          <p:cNvSpPr/>
          <p:nvPr/>
        </p:nvSpPr>
        <p:spPr>
          <a:xfrm>
            <a:off x="640080" y="1417320"/>
            <a:ext cx="5303520" cy="19202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40080" y="1417320"/>
            <a:ext cx="73152" cy="19202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41247" y="1581912"/>
            <a:ext cx="777521"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Project</a:t>
            </a:r>
          </a:p>
        </p:txBody>
      </p:sp>
      <p:sp>
        <p:nvSpPr>
          <p:cNvPr id="9" name="TextBox 8"/>
          <p:cNvSpPr txBox="1"/>
          <p:nvPr/>
        </p:nvSpPr>
        <p:spPr>
          <a:xfrm>
            <a:off x="841247" y="2011680"/>
            <a:ext cx="4937759" cy="553998"/>
          </a:xfrm>
          <a:prstGeom prst="rect">
            <a:avLst/>
          </a:prstGeom>
          <a:noFill/>
        </p:spPr>
        <p:txBody>
          <a:bodyPr wrap="square">
            <a:spAutoFit/>
          </a:bodyPr>
          <a:lstStyle/>
          <a:p>
            <a:pPr>
              <a:defRPr sz="1500">
                <a:solidFill>
                  <a:srgbClr val="302A2A"/>
                </a:solidFill>
                <a:latin typeface="Aptos"/>
              </a:defRPr>
            </a:pPr>
            <a:r>
              <a:rPr dirty="0">
                <a:latin typeface="Times New Roman" panose="02020603050405020304" pitchFamily="18" charset="0"/>
                <a:cs typeface="Times New Roman" panose="02020603050405020304" pitchFamily="18" charset="0"/>
              </a:rPr>
              <a:t>A full-stack Student Management System developed as a two-week internship mini project using the MERN Stack.</a:t>
            </a:r>
          </a:p>
        </p:txBody>
      </p:sp>
      <p:sp>
        <p:nvSpPr>
          <p:cNvPr id="10" name="Rounded Rectangle 9"/>
          <p:cNvSpPr/>
          <p:nvPr/>
        </p:nvSpPr>
        <p:spPr>
          <a:xfrm>
            <a:off x="6217920" y="1417320"/>
            <a:ext cx="5303520" cy="19202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6217920" y="1417320"/>
            <a:ext cx="73152" cy="19202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6419088" y="1581912"/>
            <a:ext cx="1308115"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Core Purpose</a:t>
            </a:r>
          </a:p>
        </p:txBody>
      </p:sp>
      <p:sp>
        <p:nvSpPr>
          <p:cNvPr id="13" name="TextBox 12"/>
          <p:cNvSpPr txBox="1"/>
          <p:nvPr/>
        </p:nvSpPr>
        <p:spPr>
          <a:xfrm>
            <a:off x="6419088" y="2011680"/>
            <a:ext cx="4937759" cy="784830"/>
          </a:xfrm>
          <a:prstGeom prst="rect">
            <a:avLst/>
          </a:prstGeom>
          <a:noFill/>
        </p:spPr>
        <p:txBody>
          <a:bodyPr wrap="square">
            <a:spAutoFit/>
          </a:bodyPr>
          <a:lstStyle/>
          <a:p>
            <a:pPr>
              <a:defRPr sz="1500">
                <a:solidFill>
                  <a:srgbClr val="302A2A"/>
                </a:solidFill>
                <a:latin typeface="Aptos"/>
              </a:defRPr>
            </a:pPr>
            <a:r>
              <a:rPr>
                <a:latin typeface="Times New Roman" panose="02020603050405020304" pitchFamily="18" charset="0"/>
                <a:cs typeface="Times New Roman" panose="02020603050405020304" pitchFamily="18" charset="0"/>
              </a:rPr>
              <a:t>To understand CRUD operations, REST API integration, database connectivity and the complete full-stack development workflow.</a:t>
            </a:r>
          </a:p>
        </p:txBody>
      </p:sp>
      <p:sp>
        <p:nvSpPr>
          <p:cNvPr id="14" name="Rounded Rectangle 13"/>
          <p:cNvSpPr/>
          <p:nvPr/>
        </p:nvSpPr>
        <p:spPr>
          <a:xfrm>
            <a:off x="640080" y="3657600"/>
            <a:ext cx="10881360" cy="15087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640080" y="3657600"/>
            <a:ext cx="73152" cy="150876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41247" y="3822191"/>
            <a:ext cx="2034275"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Implemented Features</a:t>
            </a:r>
          </a:p>
        </p:txBody>
      </p:sp>
      <p:sp>
        <p:nvSpPr>
          <p:cNvPr id="17" name="TextBox 16"/>
          <p:cNvSpPr txBox="1"/>
          <p:nvPr/>
        </p:nvSpPr>
        <p:spPr>
          <a:xfrm>
            <a:off x="841247" y="4251960"/>
            <a:ext cx="10515600" cy="323165"/>
          </a:xfrm>
          <a:prstGeom prst="rect">
            <a:avLst/>
          </a:prstGeom>
          <a:noFill/>
        </p:spPr>
        <p:txBody>
          <a:bodyPr wrap="square">
            <a:spAutoFit/>
          </a:bodyPr>
          <a:lstStyle/>
          <a:p>
            <a:pPr>
              <a:defRPr sz="1500">
                <a:solidFill>
                  <a:srgbClr val="302A2A"/>
                </a:solidFill>
                <a:latin typeface="Aptos"/>
              </a:defRPr>
            </a:pPr>
            <a:r>
              <a:rPr>
                <a:latin typeface="Times New Roman" panose="02020603050405020304" pitchFamily="18" charset="0"/>
                <a:cs typeface="Times New Roman" panose="02020603050405020304" pitchFamily="18" charset="0"/>
              </a:rPr>
              <a:t>Add Student  •  View Students  •  Edit Student  •  Delete Student  •  Search Student  •  Course/Year Filtering  •  Pagination  •  Validation</a:t>
            </a:r>
          </a:p>
        </p:txBody>
      </p:sp>
      <p:sp>
        <p:nvSpPr>
          <p:cNvPr id="18" name="Rectangle 17"/>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20" name="TextBox 19"/>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1630575"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Objectives</a:t>
            </a:r>
          </a:p>
        </p:txBody>
      </p:sp>
      <p:sp>
        <p:nvSpPr>
          <p:cNvPr id="5" name="TextBox 4"/>
          <p:cNvSpPr txBox="1"/>
          <p:nvPr/>
        </p:nvSpPr>
        <p:spPr>
          <a:xfrm>
            <a:off x="621792" y="932688"/>
            <a:ext cx="2743059"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Technical and practical goals of the project</a:t>
            </a:r>
          </a:p>
        </p:txBody>
      </p:sp>
      <p:sp>
        <p:nvSpPr>
          <p:cNvPr id="6" name="TextBox 5"/>
          <p:cNvSpPr txBox="1"/>
          <p:nvPr/>
        </p:nvSpPr>
        <p:spPr>
          <a:xfrm>
            <a:off x="822960" y="1325880"/>
            <a:ext cx="10332720" cy="2780248"/>
          </a:xfrm>
          <a:prstGeom prst="rect">
            <a:avLst/>
          </a:prstGeom>
          <a:noFill/>
        </p:spPr>
        <p:txBody>
          <a:bodyPr wrap="square">
            <a:spAutoFit/>
          </a:bodyPr>
          <a:lstStyle/>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Build a functional and user-friendly React.js interface.</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Develop RESTful APIs using Node.js and Express.js.</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Store student records persistently in MongoDB Atlas using Mongoose.</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Implement complete CRUD operations.</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Add search, course/year filtering and pagination.</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Implement required-field and duplicate Student ID validation.</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Use Git/GitHub for version control and documentation.</a:t>
            </a:r>
          </a:p>
          <a:p>
            <a:pPr>
              <a:spcAft>
                <a:spcPts val="800"/>
              </a:spcAft>
              <a:defRPr sz="1600">
                <a:solidFill>
                  <a:srgbClr val="302A2A"/>
                </a:solidFill>
                <a:latin typeface="Aptos"/>
              </a:defRPr>
            </a:pPr>
            <a:r>
              <a:rPr dirty="0">
                <a:latin typeface="Times New Roman" panose="02020603050405020304" pitchFamily="18" charset="0"/>
                <a:cs typeface="Times New Roman" panose="02020603050405020304" pitchFamily="18" charset="0"/>
              </a:rPr>
              <a:t>• Deploy the completed frontend and backend using Render.</a:t>
            </a:r>
          </a:p>
        </p:txBody>
      </p:sp>
      <p:sp>
        <p:nvSpPr>
          <p:cNvPr id="7" name="Rectangle 6"/>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9" name="TextBox 8"/>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586990"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Technology Stack</a:t>
            </a:r>
          </a:p>
        </p:txBody>
      </p:sp>
      <p:sp>
        <p:nvSpPr>
          <p:cNvPr id="5" name="TextBox 4"/>
          <p:cNvSpPr txBox="1"/>
          <p:nvPr/>
        </p:nvSpPr>
        <p:spPr>
          <a:xfrm>
            <a:off x="621792" y="932688"/>
            <a:ext cx="2610010"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Technologies used across the application</a:t>
            </a:r>
          </a:p>
        </p:txBody>
      </p:sp>
      <p:sp>
        <p:nvSpPr>
          <p:cNvPr id="6" name="Rounded Rectangle 5"/>
          <p:cNvSpPr/>
          <p:nvPr/>
        </p:nvSpPr>
        <p:spPr>
          <a:xfrm>
            <a:off x="731520" y="1325880"/>
            <a:ext cx="5212080" cy="12801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731520" y="1325880"/>
            <a:ext cx="73152" cy="128016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932688" y="1490472"/>
            <a:ext cx="897938"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Frontend</a:t>
            </a:r>
          </a:p>
        </p:txBody>
      </p:sp>
      <p:sp>
        <p:nvSpPr>
          <p:cNvPr id="9" name="TextBox 8"/>
          <p:cNvSpPr txBox="1"/>
          <p:nvPr/>
        </p:nvSpPr>
        <p:spPr>
          <a:xfrm>
            <a:off x="932688" y="1920240"/>
            <a:ext cx="4846320" cy="477054"/>
          </a:xfrm>
          <a:prstGeom prst="rect">
            <a:avLst/>
          </a:prstGeom>
          <a:noFill/>
        </p:spPr>
        <p:txBody>
          <a:bodyPr wrap="square">
            <a:spAutoFit/>
          </a:bodyPr>
          <a:lstStyle/>
          <a:p>
            <a:pPr>
              <a:defRPr sz="1250">
                <a:solidFill>
                  <a:srgbClr val="302A2A"/>
                </a:solidFill>
                <a:latin typeface="Aptos"/>
              </a:defRPr>
            </a:pPr>
            <a:r>
              <a:rPr dirty="0">
                <a:latin typeface="Times New Roman" panose="02020603050405020304" pitchFamily="18" charset="0"/>
                <a:cs typeface="Times New Roman" panose="02020603050405020304" pitchFamily="18" charset="0"/>
              </a:rPr>
              <a:t>React.js + Vite</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Interactive dashboard, forms and directory</a:t>
            </a:r>
          </a:p>
        </p:txBody>
      </p:sp>
      <p:sp>
        <p:nvSpPr>
          <p:cNvPr id="10" name="Rounded Rectangle 9"/>
          <p:cNvSpPr/>
          <p:nvPr/>
        </p:nvSpPr>
        <p:spPr>
          <a:xfrm>
            <a:off x="6263640" y="1325880"/>
            <a:ext cx="5212080" cy="12801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6263640" y="1325880"/>
            <a:ext cx="73152" cy="128016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6464807" y="1490472"/>
            <a:ext cx="853119"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Backend</a:t>
            </a:r>
          </a:p>
        </p:txBody>
      </p:sp>
      <p:sp>
        <p:nvSpPr>
          <p:cNvPr id="13" name="TextBox 12"/>
          <p:cNvSpPr txBox="1"/>
          <p:nvPr/>
        </p:nvSpPr>
        <p:spPr>
          <a:xfrm>
            <a:off x="6464807" y="1920240"/>
            <a:ext cx="4846320" cy="477054"/>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Node.js + Express.js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REST API and server-side logic</a:t>
            </a:r>
          </a:p>
        </p:txBody>
      </p:sp>
      <p:sp>
        <p:nvSpPr>
          <p:cNvPr id="14" name="Rounded Rectangle 13"/>
          <p:cNvSpPr/>
          <p:nvPr/>
        </p:nvSpPr>
        <p:spPr>
          <a:xfrm>
            <a:off x="731520" y="2880360"/>
            <a:ext cx="5212080" cy="12801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731520" y="2880360"/>
            <a:ext cx="73152" cy="128016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932688" y="3044952"/>
            <a:ext cx="893193"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Database</a:t>
            </a:r>
          </a:p>
        </p:txBody>
      </p:sp>
      <p:sp>
        <p:nvSpPr>
          <p:cNvPr id="17" name="TextBox 16"/>
          <p:cNvSpPr txBox="1"/>
          <p:nvPr/>
        </p:nvSpPr>
        <p:spPr>
          <a:xfrm>
            <a:off x="932688" y="3474720"/>
            <a:ext cx="4846320" cy="477054"/>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MongoDB Atlas + Mongoose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Persistent records and schema validation</a:t>
            </a:r>
          </a:p>
        </p:txBody>
      </p:sp>
      <p:sp>
        <p:nvSpPr>
          <p:cNvPr id="18" name="Rounded Rectangle 17"/>
          <p:cNvSpPr/>
          <p:nvPr/>
        </p:nvSpPr>
        <p:spPr>
          <a:xfrm>
            <a:off x="6263640" y="2880360"/>
            <a:ext cx="5212080" cy="12801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6263640" y="2880360"/>
            <a:ext cx="73152" cy="128016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6464807" y="3044952"/>
            <a:ext cx="1418978"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Communication</a:t>
            </a:r>
          </a:p>
        </p:txBody>
      </p:sp>
      <p:sp>
        <p:nvSpPr>
          <p:cNvPr id="21" name="TextBox 20"/>
          <p:cNvSpPr txBox="1"/>
          <p:nvPr/>
        </p:nvSpPr>
        <p:spPr>
          <a:xfrm>
            <a:off x="6464807" y="3474720"/>
            <a:ext cx="4846320" cy="477054"/>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Axios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HTTP communication between frontend and backend</a:t>
            </a:r>
          </a:p>
        </p:txBody>
      </p:sp>
      <p:sp>
        <p:nvSpPr>
          <p:cNvPr id="22" name="Rounded Rectangle 21"/>
          <p:cNvSpPr/>
          <p:nvPr/>
        </p:nvSpPr>
        <p:spPr>
          <a:xfrm>
            <a:off x="731520" y="4434840"/>
            <a:ext cx="5212080" cy="12801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Rectangle 22"/>
          <p:cNvSpPr/>
          <p:nvPr/>
        </p:nvSpPr>
        <p:spPr>
          <a:xfrm>
            <a:off x="731520" y="4434840"/>
            <a:ext cx="73152" cy="128016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932688" y="4599431"/>
            <a:ext cx="1407245"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Version Control</a:t>
            </a:r>
          </a:p>
        </p:txBody>
      </p:sp>
      <p:sp>
        <p:nvSpPr>
          <p:cNvPr id="25" name="TextBox 24"/>
          <p:cNvSpPr txBox="1"/>
          <p:nvPr/>
        </p:nvSpPr>
        <p:spPr>
          <a:xfrm>
            <a:off x="932688" y="5029200"/>
            <a:ext cx="4846320" cy="477054"/>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Git + GitHub</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Source control and project documentation</a:t>
            </a:r>
          </a:p>
        </p:txBody>
      </p:sp>
      <p:sp>
        <p:nvSpPr>
          <p:cNvPr id="26" name="Rounded Rectangle 25"/>
          <p:cNvSpPr/>
          <p:nvPr/>
        </p:nvSpPr>
        <p:spPr>
          <a:xfrm>
            <a:off x="6263640" y="4434840"/>
            <a:ext cx="5212080" cy="12801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Rectangle 26"/>
          <p:cNvSpPr/>
          <p:nvPr/>
        </p:nvSpPr>
        <p:spPr>
          <a:xfrm>
            <a:off x="6263640" y="4434840"/>
            <a:ext cx="73152" cy="128016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6464807" y="4599431"/>
            <a:ext cx="1111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Deployment</a:t>
            </a:r>
          </a:p>
        </p:txBody>
      </p:sp>
      <p:sp>
        <p:nvSpPr>
          <p:cNvPr id="29" name="TextBox 28"/>
          <p:cNvSpPr txBox="1"/>
          <p:nvPr/>
        </p:nvSpPr>
        <p:spPr>
          <a:xfrm>
            <a:off x="6464807" y="5029200"/>
            <a:ext cx="4846320" cy="477054"/>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Render</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Hosted frontend and backend services</a:t>
            </a:r>
          </a:p>
        </p:txBody>
      </p:sp>
      <p:sp>
        <p:nvSpPr>
          <p:cNvPr id="30" name="Rectangle 29"/>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32" name="TextBox 31"/>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963888"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System Architecture</a:t>
            </a:r>
          </a:p>
        </p:txBody>
      </p:sp>
      <p:sp>
        <p:nvSpPr>
          <p:cNvPr id="5" name="TextBox 4"/>
          <p:cNvSpPr txBox="1"/>
          <p:nvPr/>
        </p:nvSpPr>
        <p:spPr>
          <a:xfrm>
            <a:off x="621792" y="932688"/>
            <a:ext cx="2454518"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Three-layer architecture and data flow</a:t>
            </a:r>
          </a:p>
        </p:txBody>
      </p:sp>
      <p:sp>
        <p:nvSpPr>
          <p:cNvPr id="6" name="Rounded Rectangle 5"/>
          <p:cNvSpPr/>
          <p:nvPr/>
        </p:nvSpPr>
        <p:spPr>
          <a:xfrm>
            <a:off x="731520" y="1463040"/>
            <a:ext cx="3154680" cy="13716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731520" y="1463040"/>
            <a:ext cx="73152" cy="13716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932688" y="1627632"/>
            <a:ext cx="1755352"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Presentation Layer</a:t>
            </a:r>
          </a:p>
        </p:txBody>
      </p:sp>
      <p:sp>
        <p:nvSpPr>
          <p:cNvPr id="9" name="TextBox 8"/>
          <p:cNvSpPr txBox="1"/>
          <p:nvPr/>
        </p:nvSpPr>
        <p:spPr>
          <a:xfrm>
            <a:off x="932688" y="2057400"/>
            <a:ext cx="2788920" cy="492443"/>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React.js + Vite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Dashboard • Forms • Directory</a:t>
            </a:r>
          </a:p>
        </p:txBody>
      </p:sp>
      <p:sp>
        <p:nvSpPr>
          <p:cNvPr id="10" name="Rounded Rectangle 9"/>
          <p:cNvSpPr/>
          <p:nvPr/>
        </p:nvSpPr>
        <p:spPr>
          <a:xfrm>
            <a:off x="4526280" y="1463040"/>
            <a:ext cx="3154680" cy="13716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4526280" y="1463040"/>
            <a:ext cx="73152" cy="13716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4727448" y="1627632"/>
            <a:ext cx="1685077"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Application Layer</a:t>
            </a:r>
          </a:p>
        </p:txBody>
      </p:sp>
      <p:sp>
        <p:nvSpPr>
          <p:cNvPr id="13" name="TextBox 12"/>
          <p:cNvSpPr txBox="1"/>
          <p:nvPr/>
        </p:nvSpPr>
        <p:spPr>
          <a:xfrm>
            <a:off x="4727448" y="2057400"/>
            <a:ext cx="2788920" cy="492443"/>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Node.js + Express.js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REST API • CRUD • Validation</a:t>
            </a:r>
          </a:p>
        </p:txBody>
      </p:sp>
      <p:sp>
        <p:nvSpPr>
          <p:cNvPr id="14" name="Rounded Rectangle 13"/>
          <p:cNvSpPr/>
          <p:nvPr/>
        </p:nvSpPr>
        <p:spPr>
          <a:xfrm>
            <a:off x="8321040" y="1463040"/>
            <a:ext cx="3154680" cy="13716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8321040" y="1463040"/>
            <a:ext cx="73152" cy="13716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522208" y="1627632"/>
            <a:ext cx="1119217"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Data Layer</a:t>
            </a:r>
          </a:p>
        </p:txBody>
      </p:sp>
      <p:sp>
        <p:nvSpPr>
          <p:cNvPr id="17" name="TextBox 16"/>
          <p:cNvSpPr txBox="1"/>
          <p:nvPr/>
        </p:nvSpPr>
        <p:spPr>
          <a:xfrm>
            <a:off x="8522208" y="2057400"/>
            <a:ext cx="2788920" cy="492443"/>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MongoDB Atlas + Mongoose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Student records</a:t>
            </a:r>
          </a:p>
        </p:txBody>
      </p:sp>
      <p:sp>
        <p:nvSpPr>
          <p:cNvPr id="18" name="Right Arrow 17"/>
          <p:cNvSpPr/>
          <p:nvPr/>
        </p:nvSpPr>
        <p:spPr>
          <a:xfrm>
            <a:off x="3913632" y="1920240"/>
            <a:ext cx="502920" cy="320040"/>
          </a:xfrm>
          <a:prstGeom prst="rightArrow">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ight Arrow 18"/>
          <p:cNvSpPr/>
          <p:nvPr/>
        </p:nvSpPr>
        <p:spPr>
          <a:xfrm>
            <a:off x="7708392" y="1920240"/>
            <a:ext cx="502920" cy="320040"/>
          </a:xfrm>
          <a:prstGeom prst="rightArrow">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1005840" y="3429000"/>
            <a:ext cx="10058400" cy="18288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Rectangle 20"/>
          <p:cNvSpPr/>
          <p:nvPr/>
        </p:nvSpPr>
        <p:spPr>
          <a:xfrm>
            <a:off x="1005840" y="3429000"/>
            <a:ext cx="73152" cy="18288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TextBox 21"/>
          <p:cNvSpPr txBox="1"/>
          <p:nvPr/>
        </p:nvSpPr>
        <p:spPr>
          <a:xfrm>
            <a:off x="1207008" y="3593592"/>
            <a:ext cx="1301959"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Request Flow</a:t>
            </a:r>
          </a:p>
        </p:txBody>
      </p:sp>
      <p:sp>
        <p:nvSpPr>
          <p:cNvPr id="23" name="TextBox 22"/>
          <p:cNvSpPr txBox="1"/>
          <p:nvPr/>
        </p:nvSpPr>
        <p:spPr>
          <a:xfrm>
            <a:off x="1207008" y="4023360"/>
            <a:ext cx="9692640" cy="615553"/>
          </a:xfrm>
          <a:prstGeom prst="rect">
            <a:avLst/>
          </a:prstGeom>
          <a:noFill/>
        </p:spPr>
        <p:txBody>
          <a:bodyPr wrap="square">
            <a:spAutoFit/>
          </a:bodyPr>
          <a:lstStyle/>
          <a:p>
            <a:pPr>
              <a:defRPr sz="1700">
                <a:solidFill>
                  <a:srgbClr val="302A2A"/>
                </a:solidFill>
                <a:latin typeface="Aptos"/>
              </a:defRPr>
            </a:pPr>
            <a:r>
              <a:rPr>
                <a:latin typeface="Times New Roman" panose="02020603050405020304" pitchFamily="18" charset="0"/>
                <a:cs typeface="Times New Roman" panose="02020603050405020304" pitchFamily="18" charset="0"/>
              </a:rPr>
              <a:t>User interaction → React.js → Axios/HTTP → Express REST API → Mongoose → MongoDB Atlas → JSON response → React.js</a:t>
            </a:r>
          </a:p>
        </p:txBody>
      </p:sp>
      <p:sp>
        <p:nvSpPr>
          <p:cNvPr id="24" name="Rectangle 23"/>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26" name="TextBox 25"/>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920992"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Functional Modules</a:t>
            </a:r>
          </a:p>
        </p:txBody>
      </p:sp>
      <p:sp>
        <p:nvSpPr>
          <p:cNvPr id="5" name="TextBox 4"/>
          <p:cNvSpPr txBox="1"/>
          <p:nvPr/>
        </p:nvSpPr>
        <p:spPr>
          <a:xfrm>
            <a:off x="621792" y="932688"/>
            <a:ext cx="2912977"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Main modules implemented in the application</a:t>
            </a:r>
          </a:p>
        </p:txBody>
      </p:sp>
      <p:sp>
        <p:nvSpPr>
          <p:cNvPr id="6" name="Rounded Rectangle 5"/>
          <p:cNvSpPr/>
          <p:nvPr/>
        </p:nvSpPr>
        <p:spPr>
          <a:xfrm>
            <a:off x="685800" y="132588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85800" y="1325880"/>
            <a:ext cx="73152" cy="12344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86968" y="1490472"/>
            <a:ext cx="1002197" cy="300082"/>
          </a:xfrm>
          <a:prstGeom prst="rect">
            <a:avLst/>
          </a:prstGeom>
          <a:noFill/>
        </p:spPr>
        <p:txBody>
          <a:bodyPr wrap="none">
            <a:spAutoFit/>
          </a:bodyPr>
          <a:lstStyle/>
          <a:p>
            <a:pPr>
              <a:defRPr sz="1350" b="1">
                <a:solidFill>
                  <a:srgbClr val="581423"/>
                </a:solidFill>
                <a:latin typeface="Aptos Display"/>
              </a:defRPr>
            </a:pPr>
            <a:r>
              <a:rPr>
                <a:latin typeface="Times New Roman" panose="02020603050405020304" pitchFamily="18" charset="0"/>
                <a:cs typeface="Times New Roman" panose="02020603050405020304" pitchFamily="18" charset="0"/>
              </a:rPr>
              <a:t>Dashboard</a:t>
            </a:r>
          </a:p>
        </p:txBody>
      </p:sp>
      <p:sp>
        <p:nvSpPr>
          <p:cNvPr id="9" name="TextBox 8"/>
          <p:cNvSpPr txBox="1"/>
          <p:nvPr/>
        </p:nvSpPr>
        <p:spPr>
          <a:xfrm>
            <a:off x="886968" y="1920240"/>
            <a:ext cx="4892040" cy="276999"/>
          </a:xfrm>
          <a:prstGeom prst="rect">
            <a:avLst/>
          </a:prstGeom>
          <a:noFill/>
        </p:spPr>
        <p:txBody>
          <a:bodyPr wrap="square">
            <a:spAutoFit/>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Overview of student records and quick actions.</a:t>
            </a:r>
          </a:p>
        </p:txBody>
      </p:sp>
      <p:sp>
        <p:nvSpPr>
          <p:cNvPr id="10" name="Rounded Rectangle 9"/>
          <p:cNvSpPr/>
          <p:nvPr/>
        </p:nvSpPr>
        <p:spPr>
          <a:xfrm>
            <a:off x="6263640" y="132588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6263640" y="1325880"/>
            <a:ext cx="73152" cy="12344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6464807" y="1490472"/>
            <a:ext cx="1718740" cy="300082"/>
          </a:xfrm>
          <a:prstGeom prst="rect">
            <a:avLst/>
          </a:prstGeom>
          <a:noFill/>
        </p:spPr>
        <p:txBody>
          <a:bodyPr wrap="none">
            <a:spAutoFit/>
          </a:bodyPr>
          <a:lstStyle/>
          <a:p>
            <a:pPr>
              <a:defRPr sz="1350" b="1">
                <a:solidFill>
                  <a:srgbClr val="581423"/>
                </a:solidFill>
                <a:latin typeface="Aptos Display"/>
              </a:defRPr>
            </a:pPr>
            <a:r>
              <a:rPr>
                <a:latin typeface="Times New Roman" panose="02020603050405020304" pitchFamily="18" charset="0"/>
                <a:cs typeface="Times New Roman" panose="02020603050405020304" pitchFamily="18" charset="0"/>
              </a:rPr>
              <a:t>Student Registration</a:t>
            </a:r>
          </a:p>
        </p:txBody>
      </p:sp>
      <p:sp>
        <p:nvSpPr>
          <p:cNvPr id="13" name="TextBox 12"/>
          <p:cNvSpPr txBox="1"/>
          <p:nvPr/>
        </p:nvSpPr>
        <p:spPr>
          <a:xfrm>
            <a:off x="6464807" y="1920240"/>
            <a:ext cx="4892040" cy="276999"/>
          </a:xfrm>
          <a:prstGeom prst="rect">
            <a:avLst/>
          </a:prstGeom>
          <a:noFill/>
        </p:spPr>
        <p:txBody>
          <a:bodyPr wrap="square">
            <a:spAutoFit/>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Add student details with required-field validation.</a:t>
            </a:r>
          </a:p>
        </p:txBody>
      </p:sp>
      <p:sp>
        <p:nvSpPr>
          <p:cNvPr id="14" name="Rounded Rectangle 13"/>
          <p:cNvSpPr/>
          <p:nvPr/>
        </p:nvSpPr>
        <p:spPr>
          <a:xfrm>
            <a:off x="685800" y="2834639"/>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685800" y="2834639"/>
            <a:ext cx="73152" cy="12344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86968" y="2999232"/>
            <a:ext cx="1513619" cy="300082"/>
          </a:xfrm>
          <a:prstGeom prst="rect">
            <a:avLst/>
          </a:prstGeom>
          <a:noFill/>
        </p:spPr>
        <p:txBody>
          <a:bodyPr wrap="none">
            <a:spAutoFit/>
          </a:bodyPr>
          <a:lstStyle/>
          <a:p>
            <a:pPr>
              <a:defRPr sz="1350" b="1">
                <a:solidFill>
                  <a:srgbClr val="581423"/>
                </a:solidFill>
                <a:latin typeface="Aptos Display"/>
              </a:defRPr>
            </a:pPr>
            <a:r>
              <a:rPr>
                <a:latin typeface="Times New Roman" panose="02020603050405020304" pitchFamily="18" charset="0"/>
                <a:cs typeface="Times New Roman" panose="02020603050405020304" pitchFamily="18" charset="0"/>
              </a:rPr>
              <a:t>Student Directory</a:t>
            </a:r>
          </a:p>
        </p:txBody>
      </p:sp>
      <p:sp>
        <p:nvSpPr>
          <p:cNvPr id="17" name="TextBox 16"/>
          <p:cNvSpPr txBox="1"/>
          <p:nvPr/>
        </p:nvSpPr>
        <p:spPr>
          <a:xfrm>
            <a:off x="886968" y="3428999"/>
            <a:ext cx="4892040" cy="276999"/>
          </a:xfrm>
          <a:prstGeom prst="rect">
            <a:avLst/>
          </a:prstGeom>
          <a:noFill/>
        </p:spPr>
        <p:txBody>
          <a:bodyPr wrap="square">
            <a:spAutoFit/>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Tabular view with edit and delete actions.</a:t>
            </a:r>
          </a:p>
        </p:txBody>
      </p:sp>
      <p:sp>
        <p:nvSpPr>
          <p:cNvPr id="18" name="Rounded Rectangle 17"/>
          <p:cNvSpPr/>
          <p:nvPr/>
        </p:nvSpPr>
        <p:spPr>
          <a:xfrm>
            <a:off x="6263640" y="2834639"/>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6263640" y="2834639"/>
            <a:ext cx="73152" cy="12344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6464807" y="2999232"/>
            <a:ext cx="1566519" cy="300082"/>
          </a:xfrm>
          <a:prstGeom prst="rect">
            <a:avLst/>
          </a:prstGeom>
          <a:noFill/>
        </p:spPr>
        <p:txBody>
          <a:bodyPr wrap="none">
            <a:spAutoFit/>
          </a:bodyPr>
          <a:lstStyle/>
          <a:p>
            <a:pPr>
              <a:defRPr sz="1350" b="1">
                <a:solidFill>
                  <a:srgbClr val="581423"/>
                </a:solidFill>
                <a:latin typeface="Aptos Display"/>
              </a:defRPr>
            </a:pPr>
            <a:r>
              <a:rPr>
                <a:latin typeface="Times New Roman" panose="02020603050405020304" pitchFamily="18" charset="0"/>
                <a:cs typeface="Times New Roman" panose="02020603050405020304" pitchFamily="18" charset="0"/>
              </a:rPr>
              <a:t>Search &amp; Filtering</a:t>
            </a:r>
          </a:p>
        </p:txBody>
      </p:sp>
      <p:sp>
        <p:nvSpPr>
          <p:cNvPr id="21" name="TextBox 20"/>
          <p:cNvSpPr txBox="1"/>
          <p:nvPr/>
        </p:nvSpPr>
        <p:spPr>
          <a:xfrm>
            <a:off x="6464807" y="3428999"/>
            <a:ext cx="4892040" cy="276999"/>
          </a:xfrm>
          <a:prstGeom prst="rect">
            <a:avLst/>
          </a:prstGeom>
          <a:noFill/>
        </p:spPr>
        <p:txBody>
          <a:bodyPr wrap="square">
            <a:spAutoFit/>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Search by ID/name/email/course; filter by course and year.</a:t>
            </a:r>
          </a:p>
        </p:txBody>
      </p:sp>
      <p:sp>
        <p:nvSpPr>
          <p:cNvPr id="22" name="Rounded Rectangle 21"/>
          <p:cNvSpPr/>
          <p:nvPr/>
        </p:nvSpPr>
        <p:spPr>
          <a:xfrm>
            <a:off x="685800" y="434340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Rectangle 22"/>
          <p:cNvSpPr/>
          <p:nvPr/>
        </p:nvSpPr>
        <p:spPr>
          <a:xfrm>
            <a:off x="685800" y="4343400"/>
            <a:ext cx="73152" cy="12344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886968" y="4507992"/>
            <a:ext cx="1122423" cy="300082"/>
          </a:xfrm>
          <a:prstGeom prst="rect">
            <a:avLst/>
          </a:prstGeom>
          <a:noFill/>
        </p:spPr>
        <p:txBody>
          <a:bodyPr wrap="none">
            <a:spAutoFit/>
          </a:bodyPr>
          <a:lstStyle/>
          <a:p>
            <a:pPr>
              <a:defRPr sz="1350" b="1">
                <a:solidFill>
                  <a:srgbClr val="581423"/>
                </a:solidFill>
                <a:latin typeface="Aptos Display"/>
              </a:defRPr>
            </a:pPr>
            <a:r>
              <a:rPr>
                <a:latin typeface="Times New Roman" panose="02020603050405020304" pitchFamily="18" charset="0"/>
                <a:cs typeface="Times New Roman" panose="02020603050405020304" pitchFamily="18" charset="0"/>
              </a:rPr>
              <a:t>Edit Student</a:t>
            </a:r>
          </a:p>
        </p:txBody>
      </p:sp>
      <p:sp>
        <p:nvSpPr>
          <p:cNvPr id="25" name="TextBox 24"/>
          <p:cNvSpPr txBox="1"/>
          <p:nvPr/>
        </p:nvSpPr>
        <p:spPr>
          <a:xfrm>
            <a:off x="886968" y="4937760"/>
            <a:ext cx="4892040" cy="276999"/>
          </a:xfrm>
          <a:prstGeom prst="rect">
            <a:avLst/>
          </a:prstGeom>
          <a:noFill/>
        </p:spPr>
        <p:txBody>
          <a:bodyPr wrap="square">
            <a:spAutoFit/>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Update existing student information through PUT API.</a:t>
            </a:r>
          </a:p>
        </p:txBody>
      </p:sp>
      <p:sp>
        <p:nvSpPr>
          <p:cNvPr id="26" name="Rounded Rectangle 25"/>
          <p:cNvSpPr/>
          <p:nvPr/>
        </p:nvSpPr>
        <p:spPr>
          <a:xfrm>
            <a:off x="6263640" y="434340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Rectangle 26"/>
          <p:cNvSpPr/>
          <p:nvPr/>
        </p:nvSpPr>
        <p:spPr>
          <a:xfrm>
            <a:off x="6263640" y="4343400"/>
            <a:ext cx="73152" cy="12344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6464807" y="4507992"/>
            <a:ext cx="1266693" cy="300082"/>
          </a:xfrm>
          <a:prstGeom prst="rect">
            <a:avLst/>
          </a:prstGeom>
          <a:noFill/>
        </p:spPr>
        <p:txBody>
          <a:bodyPr wrap="none">
            <a:spAutoFit/>
          </a:bodyPr>
          <a:lstStyle/>
          <a:p>
            <a:pPr>
              <a:defRPr sz="1350" b="1">
                <a:solidFill>
                  <a:srgbClr val="581423"/>
                </a:solidFill>
                <a:latin typeface="Aptos Display"/>
              </a:defRPr>
            </a:pPr>
            <a:r>
              <a:rPr>
                <a:latin typeface="Times New Roman" panose="02020603050405020304" pitchFamily="18" charset="0"/>
                <a:cs typeface="Times New Roman" panose="02020603050405020304" pitchFamily="18" charset="0"/>
              </a:rPr>
              <a:t>Delete Student</a:t>
            </a:r>
          </a:p>
        </p:txBody>
      </p:sp>
      <p:sp>
        <p:nvSpPr>
          <p:cNvPr id="29" name="TextBox 28"/>
          <p:cNvSpPr txBox="1"/>
          <p:nvPr/>
        </p:nvSpPr>
        <p:spPr>
          <a:xfrm>
            <a:off x="6464807" y="4937760"/>
            <a:ext cx="4892040" cy="276999"/>
          </a:xfrm>
          <a:prstGeom prst="rect">
            <a:avLst/>
          </a:prstGeom>
          <a:noFill/>
        </p:spPr>
        <p:txBody>
          <a:bodyPr wrap="square">
            <a:spAutoFit/>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Delete records after confirmation.</a:t>
            </a:r>
          </a:p>
        </p:txBody>
      </p:sp>
      <p:sp>
        <p:nvSpPr>
          <p:cNvPr id="30" name="Rectangle 29"/>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32" name="TextBox 31"/>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4386778"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Search, Filtering &amp; Pagination</a:t>
            </a:r>
          </a:p>
        </p:txBody>
      </p:sp>
      <p:sp>
        <p:nvSpPr>
          <p:cNvPr id="5" name="TextBox 4"/>
          <p:cNvSpPr txBox="1"/>
          <p:nvPr/>
        </p:nvSpPr>
        <p:spPr>
          <a:xfrm>
            <a:off x="621792" y="932688"/>
            <a:ext cx="3029997"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Making the Student Directory easier to navigate</a:t>
            </a:r>
          </a:p>
        </p:txBody>
      </p:sp>
      <p:sp>
        <p:nvSpPr>
          <p:cNvPr id="6" name="Rounded Rectangle 5"/>
          <p:cNvSpPr/>
          <p:nvPr/>
        </p:nvSpPr>
        <p:spPr>
          <a:xfrm>
            <a:off x="685800" y="1371600"/>
            <a:ext cx="3383280" cy="16002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85800" y="1371600"/>
            <a:ext cx="73152" cy="16002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86968" y="1536192"/>
            <a:ext cx="747064"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Search</a:t>
            </a:r>
          </a:p>
        </p:txBody>
      </p:sp>
      <p:sp>
        <p:nvSpPr>
          <p:cNvPr id="9" name="TextBox 8"/>
          <p:cNvSpPr txBox="1"/>
          <p:nvPr/>
        </p:nvSpPr>
        <p:spPr>
          <a:xfrm>
            <a:off x="886968" y="1965960"/>
            <a:ext cx="3017520" cy="1015663"/>
          </a:xfrm>
          <a:prstGeom prst="rect">
            <a:avLst/>
          </a:prstGeom>
          <a:noFill/>
        </p:spPr>
        <p:txBody>
          <a:bodyPr wrap="square">
            <a:spAutoFit/>
          </a:bodyPr>
          <a:lstStyle/>
          <a:p>
            <a:pPr>
              <a:defRPr sz="1500">
                <a:solidFill>
                  <a:srgbClr val="302A2A"/>
                </a:solidFill>
                <a:latin typeface="Aptos"/>
              </a:defRPr>
            </a:pPr>
            <a:r>
              <a:rPr>
                <a:latin typeface="Times New Roman" panose="02020603050405020304" pitchFamily="18" charset="0"/>
                <a:cs typeface="Times New Roman" panose="02020603050405020304" pitchFamily="18" charset="0"/>
              </a:rPr>
              <a:t>Student ID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Name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Email</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Course</a:t>
            </a:r>
          </a:p>
        </p:txBody>
      </p:sp>
      <p:sp>
        <p:nvSpPr>
          <p:cNvPr id="10" name="Rounded Rectangle 9"/>
          <p:cNvSpPr/>
          <p:nvPr/>
        </p:nvSpPr>
        <p:spPr>
          <a:xfrm>
            <a:off x="4389120" y="1371600"/>
            <a:ext cx="3383280" cy="16002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4389120" y="1371600"/>
            <a:ext cx="73152" cy="16002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4590288" y="1536192"/>
            <a:ext cx="716863"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Filters</a:t>
            </a:r>
          </a:p>
        </p:txBody>
      </p:sp>
      <p:sp>
        <p:nvSpPr>
          <p:cNvPr id="13" name="TextBox 12"/>
          <p:cNvSpPr txBox="1"/>
          <p:nvPr/>
        </p:nvSpPr>
        <p:spPr>
          <a:xfrm>
            <a:off x="4590288" y="1965960"/>
            <a:ext cx="3017520" cy="738664"/>
          </a:xfrm>
          <a:prstGeom prst="rect">
            <a:avLst/>
          </a:prstGeom>
          <a:noFill/>
        </p:spPr>
        <p:txBody>
          <a:bodyPr wrap="square">
            <a:spAutoFit/>
          </a:bodyPr>
          <a:lstStyle/>
          <a:p>
            <a:pPr>
              <a:defRPr sz="1400">
                <a:solidFill>
                  <a:srgbClr val="302A2A"/>
                </a:solidFill>
                <a:latin typeface="Aptos"/>
              </a:defRPr>
            </a:pPr>
            <a:r>
              <a:rPr>
                <a:latin typeface="Times New Roman" panose="02020603050405020304" pitchFamily="18" charset="0"/>
                <a:cs typeface="Times New Roman" panose="02020603050405020304" pitchFamily="18" charset="0"/>
              </a:rPr>
              <a:t>Course: CSE, ECE, EEE, DS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Year: 1–4</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Filters can be combined</a:t>
            </a:r>
          </a:p>
        </p:txBody>
      </p:sp>
      <p:sp>
        <p:nvSpPr>
          <p:cNvPr id="14" name="Rounded Rectangle 13"/>
          <p:cNvSpPr/>
          <p:nvPr/>
        </p:nvSpPr>
        <p:spPr>
          <a:xfrm>
            <a:off x="8092440" y="1371600"/>
            <a:ext cx="3383280" cy="16002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8092440" y="1371600"/>
            <a:ext cx="73152" cy="16002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293608" y="1536192"/>
            <a:ext cx="1071127"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Pagination</a:t>
            </a:r>
          </a:p>
        </p:txBody>
      </p:sp>
      <p:sp>
        <p:nvSpPr>
          <p:cNvPr id="17" name="TextBox 16"/>
          <p:cNvSpPr txBox="1"/>
          <p:nvPr/>
        </p:nvSpPr>
        <p:spPr>
          <a:xfrm>
            <a:off x="8293608" y="1965960"/>
            <a:ext cx="3017520" cy="523220"/>
          </a:xfrm>
          <a:prstGeom prst="rect">
            <a:avLst/>
          </a:prstGeom>
          <a:noFill/>
        </p:spPr>
        <p:txBody>
          <a:bodyPr wrap="square">
            <a:spAutoFit/>
          </a:bodyPr>
          <a:lstStyle/>
          <a:p>
            <a:pPr>
              <a:defRPr sz="1400">
                <a:solidFill>
                  <a:srgbClr val="302A2A"/>
                </a:solidFill>
                <a:latin typeface="Aptos"/>
              </a:defRPr>
            </a:pPr>
            <a:r>
              <a:rPr>
                <a:latin typeface="Times New Roman" panose="02020603050405020304" pitchFamily="18" charset="0"/>
                <a:cs typeface="Times New Roman" panose="02020603050405020304" pitchFamily="18" charset="0"/>
              </a:rPr>
              <a:t>Maximum 5 records per page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Previous / Next / Page number controls</a:t>
            </a:r>
          </a:p>
        </p:txBody>
      </p:sp>
      <p:sp>
        <p:nvSpPr>
          <p:cNvPr id="18" name="Rounded Rectangle 17"/>
          <p:cNvSpPr/>
          <p:nvPr/>
        </p:nvSpPr>
        <p:spPr>
          <a:xfrm>
            <a:off x="1005840" y="3657600"/>
            <a:ext cx="10058400" cy="13716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1005840" y="3657600"/>
            <a:ext cx="73152" cy="13716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1207008" y="3822191"/>
            <a:ext cx="1007584"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Workflow</a:t>
            </a:r>
          </a:p>
        </p:txBody>
      </p:sp>
      <p:sp>
        <p:nvSpPr>
          <p:cNvPr id="21" name="TextBox 20"/>
          <p:cNvSpPr txBox="1"/>
          <p:nvPr/>
        </p:nvSpPr>
        <p:spPr>
          <a:xfrm>
            <a:off x="1207008" y="4251960"/>
            <a:ext cx="9692640" cy="584775"/>
          </a:xfrm>
          <a:prstGeom prst="rect">
            <a:avLst/>
          </a:prstGeom>
          <a:noFill/>
        </p:spPr>
        <p:txBody>
          <a:bodyPr wrap="square">
            <a:spAutoFit/>
          </a:bodyPr>
          <a:lstStyle/>
          <a:p>
            <a:pPr>
              <a:defRPr sz="1600">
                <a:solidFill>
                  <a:srgbClr val="302A2A"/>
                </a:solidFill>
                <a:latin typeface="Aptos"/>
              </a:defRPr>
            </a:pPr>
            <a:r>
              <a:rPr>
                <a:latin typeface="Times New Roman" panose="02020603050405020304" pitchFamily="18" charset="0"/>
                <a:cs typeface="Times New Roman" panose="02020603050405020304" pitchFamily="18" charset="0"/>
              </a:rPr>
              <a:t>Student Records  →  Search Term  →  Course Filter  →  Year Filter  →  Filtered Results  →  Pagination  →  Displayed Records</a:t>
            </a:r>
          </a:p>
        </p:txBody>
      </p:sp>
      <p:sp>
        <p:nvSpPr>
          <p:cNvPr id="22" name="Rectangle 21"/>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24" name="TextBox 23"/>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456122"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Database Design</a:t>
            </a:r>
          </a:p>
        </p:txBody>
      </p:sp>
      <p:sp>
        <p:nvSpPr>
          <p:cNvPr id="5" name="TextBox 4"/>
          <p:cNvSpPr txBox="1"/>
          <p:nvPr/>
        </p:nvSpPr>
        <p:spPr>
          <a:xfrm>
            <a:off x="621792" y="932688"/>
            <a:ext cx="2191626"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MongoDB Atlas document model</a:t>
            </a:r>
          </a:p>
        </p:txBody>
      </p:sp>
      <p:sp>
        <p:nvSpPr>
          <p:cNvPr id="6" name="Rounded Rectangle 5"/>
          <p:cNvSpPr/>
          <p:nvPr/>
        </p:nvSpPr>
        <p:spPr>
          <a:xfrm>
            <a:off x="685800" y="1325880"/>
            <a:ext cx="3749039" cy="42519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85800" y="1325880"/>
            <a:ext cx="73152" cy="425196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86968" y="1490472"/>
            <a:ext cx="1720343"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Student Document</a:t>
            </a:r>
          </a:p>
        </p:txBody>
      </p:sp>
      <p:sp>
        <p:nvSpPr>
          <p:cNvPr id="9" name="TextBox 8"/>
          <p:cNvSpPr txBox="1"/>
          <p:nvPr/>
        </p:nvSpPr>
        <p:spPr>
          <a:xfrm>
            <a:off x="886968" y="1920240"/>
            <a:ext cx="3383279" cy="2246769"/>
          </a:xfrm>
          <a:prstGeom prst="rect">
            <a:avLst/>
          </a:prstGeom>
          <a:noFill/>
        </p:spPr>
        <p:txBody>
          <a:bodyPr wrap="square">
            <a:spAutoFit/>
          </a:bodyPr>
          <a:lstStyle/>
          <a:p>
            <a:pPr>
              <a:defRPr sz="1400">
                <a:solidFill>
                  <a:srgbClr val="302A2A"/>
                </a:solidFill>
                <a:latin typeface="Aptos"/>
              </a:defRPr>
            </a:pPr>
            <a:r>
              <a:rPr>
                <a:latin typeface="Times New Roman" panose="02020603050405020304" pitchFamily="18" charset="0"/>
                <a:cs typeface="Times New Roman" panose="02020603050405020304" pitchFamily="18" charset="0"/>
              </a:rPr>
              <a:t>studentId — String — Unique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name — String — Required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email — String — Required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phone — String — Required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course — String — CSE/ECE/EEE/DS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year — String — 1/2/3/4</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createdAt — Date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timestamp</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updatedAt — Date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timestamp</a:t>
            </a:r>
          </a:p>
        </p:txBody>
      </p:sp>
      <p:sp>
        <p:nvSpPr>
          <p:cNvPr id="10" name="Rounded Rectangle 9"/>
          <p:cNvSpPr/>
          <p:nvPr/>
        </p:nvSpPr>
        <p:spPr>
          <a:xfrm>
            <a:off x="4754880" y="1325880"/>
            <a:ext cx="3063240" cy="18288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4754880" y="1325880"/>
            <a:ext cx="73152" cy="18288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4956048" y="1490472"/>
            <a:ext cx="1032655"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Validation</a:t>
            </a:r>
          </a:p>
        </p:txBody>
      </p:sp>
      <p:sp>
        <p:nvSpPr>
          <p:cNvPr id="13" name="TextBox 12"/>
          <p:cNvSpPr txBox="1"/>
          <p:nvPr/>
        </p:nvSpPr>
        <p:spPr>
          <a:xfrm>
            <a:off x="4956048" y="1920240"/>
            <a:ext cx="2697480" cy="1092607"/>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Required fields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Unique Student ID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Allowed course values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Allowed year values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Lowercase email storage</a:t>
            </a:r>
          </a:p>
        </p:txBody>
      </p:sp>
      <p:sp>
        <p:nvSpPr>
          <p:cNvPr id="14" name="Rounded Rectangle 13"/>
          <p:cNvSpPr/>
          <p:nvPr/>
        </p:nvSpPr>
        <p:spPr>
          <a:xfrm>
            <a:off x="8046720" y="1325880"/>
            <a:ext cx="3383280" cy="18288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8046720" y="1325880"/>
            <a:ext cx="73152" cy="18288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247888" y="1490472"/>
            <a:ext cx="1911101"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Database Operations</a:t>
            </a:r>
          </a:p>
        </p:txBody>
      </p:sp>
      <p:sp>
        <p:nvSpPr>
          <p:cNvPr id="17" name="TextBox 16"/>
          <p:cNvSpPr txBox="1"/>
          <p:nvPr/>
        </p:nvSpPr>
        <p:spPr>
          <a:xfrm>
            <a:off x="8247888" y="1920240"/>
            <a:ext cx="3017520" cy="892552"/>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Create: save()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Read: find(), findById()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Update: findByIdAndUpdate()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Delete: findByIdAndDelete()</a:t>
            </a:r>
          </a:p>
        </p:txBody>
      </p:sp>
      <p:sp>
        <p:nvSpPr>
          <p:cNvPr id="18" name="Rounded Rectangle 17"/>
          <p:cNvSpPr/>
          <p:nvPr/>
        </p:nvSpPr>
        <p:spPr>
          <a:xfrm>
            <a:off x="4754880" y="3429000"/>
            <a:ext cx="6675120" cy="18288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4754880" y="3429000"/>
            <a:ext cx="73152" cy="18288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4956048" y="3593592"/>
            <a:ext cx="1034257"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Data Flow</a:t>
            </a:r>
          </a:p>
        </p:txBody>
      </p:sp>
      <p:sp>
        <p:nvSpPr>
          <p:cNvPr id="21" name="TextBox 20"/>
          <p:cNvSpPr txBox="1"/>
          <p:nvPr/>
        </p:nvSpPr>
        <p:spPr>
          <a:xfrm>
            <a:off x="4956048" y="4023360"/>
            <a:ext cx="6309359" cy="553998"/>
          </a:xfrm>
          <a:prstGeom prst="rect">
            <a:avLst/>
          </a:prstGeom>
          <a:noFill/>
        </p:spPr>
        <p:txBody>
          <a:bodyPr wrap="square">
            <a:spAutoFit/>
          </a:bodyPr>
          <a:lstStyle/>
          <a:p>
            <a:pPr>
              <a:defRPr sz="1500">
                <a:solidFill>
                  <a:srgbClr val="302A2A"/>
                </a:solidFill>
                <a:latin typeface="Aptos"/>
              </a:defRPr>
            </a:pPr>
            <a:r>
              <a:rPr>
                <a:latin typeface="Times New Roman" panose="02020603050405020304" pitchFamily="18" charset="0"/>
                <a:cs typeface="Times New Roman" panose="02020603050405020304" pitchFamily="18" charset="0"/>
              </a:rPr>
              <a:t>React form → Axios → Express API → Mongoose Student model → MongoDB Atlas → API response → React interface</a:t>
            </a:r>
          </a:p>
        </p:txBody>
      </p:sp>
      <p:sp>
        <p:nvSpPr>
          <p:cNvPr id="22" name="Rectangle 21"/>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24" name="TextBox 23"/>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634632"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REST API Design</a:t>
            </a:r>
          </a:p>
        </p:txBody>
      </p:sp>
      <p:sp>
        <p:nvSpPr>
          <p:cNvPr id="5" name="TextBox 4"/>
          <p:cNvSpPr txBox="1"/>
          <p:nvPr/>
        </p:nvSpPr>
        <p:spPr>
          <a:xfrm>
            <a:off x="621792" y="932688"/>
            <a:ext cx="1871025"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Five implemented endpoints</a:t>
            </a:r>
          </a:p>
        </p:txBody>
      </p:sp>
      <p:graphicFrame>
        <p:nvGraphicFramePr>
          <p:cNvPr id="6" name="Table 5"/>
          <p:cNvGraphicFramePr>
            <a:graphicFrameLocks noGrp="1"/>
          </p:cNvGraphicFramePr>
          <p:nvPr>
            <p:extLst>
              <p:ext uri="{D42A27DB-BD31-4B8C-83A1-F6EECF244321}">
                <p14:modId xmlns:p14="http://schemas.microsoft.com/office/powerpoint/2010/main" val="320880169"/>
              </p:ext>
            </p:extLst>
          </p:nvPr>
        </p:nvGraphicFramePr>
        <p:xfrm>
          <a:off x="731520" y="1417320"/>
          <a:ext cx="10789920" cy="32004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533400">
                <a:tc>
                  <a:txBody>
                    <a:bodyPr/>
                    <a:lstStyle/>
                    <a:p>
                      <a:pPr>
                        <a:defRPr sz="1300" b="1">
                          <a:solidFill>
                            <a:srgbClr val="FFFFFF"/>
                          </a:solidFill>
                          <a:latin typeface="Aptos"/>
                        </a:defRPr>
                      </a:pPr>
                      <a:r>
                        <a:rPr>
                          <a:latin typeface="Times New Roman" panose="02020603050405020304" pitchFamily="18" charset="0"/>
                          <a:cs typeface="Times New Roman" panose="02020603050405020304" pitchFamily="18" charset="0"/>
                        </a:rPr>
                        <a:t>Method</a:t>
                      </a:r>
                    </a:p>
                  </a:txBody>
                  <a:tcPr>
                    <a:solidFill>
                      <a:srgbClr val="581423"/>
                    </a:solidFill>
                  </a:tcPr>
                </a:tc>
                <a:tc>
                  <a:txBody>
                    <a:bodyPr/>
                    <a:lstStyle/>
                    <a:p>
                      <a:pPr>
                        <a:defRPr sz="1300" b="1">
                          <a:solidFill>
                            <a:srgbClr val="FFFFFF"/>
                          </a:solidFill>
                          <a:latin typeface="Aptos"/>
                        </a:defRPr>
                      </a:pPr>
                      <a:r>
                        <a:rPr>
                          <a:latin typeface="Times New Roman" panose="02020603050405020304" pitchFamily="18" charset="0"/>
                          <a:cs typeface="Times New Roman" panose="02020603050405020304" pitchFamily="18" charset="0"/>
                        </a:rPr>
                        <a:t>Endpoint</a:t>
                      </a:r>
                    </a:p>
                  </a:txBody>
                  <a:tcPr>
                    <a:solidFill>
                      <a:srgbClr val="581423"/>
                    </a:solidFill>
                  </a:tcPr>
                </a:tc>
                <a:tc>
                  <a:txBody>
                    <a:bodyPr/>
                    <a:lstStyle/>
                    <a:p>
                      <a:pPr>
                        <a:defRPr sz="1300" b="1">
                          <a:solidFill>
                            <a:srgbClr val="FFFFFF"/>
                          </a:solidFill>
                          <a:latin typeface="Aptos"/>
                        </a:defRPr>
                      </a:pPr>
                      <a:r>
                        <a:rPr>
                          <a:latin typeface="Times New Roman" panose="02020603050405020304" pitchFamily="18" charset="0"/>
                          <a:cs typeface="Times New Roman" panose="02020603050405020304" pitchFamily="18" charset="0"/>
                        </a:rPr>
                        <a:t>Purpose</a:t>
                      </a:r>
                    </a:p>
                  </a:txBody>
                  <a:tcPr>
                    <a:solidFill>
                      <a:srgbClr val="581423"/>
                    </a:solidFill>
                  </a:tcPr>
                </a:tc>
                <a:extLst>
                  <a:ext uri="{0D108BD9-81ED-4DB2-BD59-A6C34878D82A}">
                    <a16:rowId xmlns:a16="http://schemas.microsoft.com/office/drawing/2014/main" val="10000"/>
                  </a:ext>
                </a:extLst>
              </a:tr>
              <a:tr h="533400">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GET</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/api/students</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Retrieve all student records</a:t>
                      </a:r>
                    </a:p>
                  </a:txBody>
                  <a:tcPr>
                    <a:solidFill>
                      <a:srgbClr val="FFFFFF"/>
                    </a:solidFill>
                  </a:tcPr>
                </a:tc>
                <a:extLst>
                  <a:ext uri="{0D108BD9-81ED-4DB2-BD59-A6C34878D82A}">
                    <a16:rowId xmlns:a16="http://schemas.microsoft.com/office/drawing/2014/main" val="10001"/>
                  </a:ext>
                </a:extLst>
              </a:tr>
              <a:tr h="533400">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GET</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/api/students/:id</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Retrieve a specific student</a:t>
                      </a:r>
                    </a:p>
                  </a:txBody>
                  <a:tcPr>
                    <a:solidFill>
                      <a:srgbClr val="FFFFFF"/>
                    </a:solidFill>
                  </a:tcPr>
                </a:tc>
                <a:extLst>
                  <a:ext uri="{0D108BD9-81ED-4DB2-BD59-A6C34878D82A}">
                    <a16:rowId xmlns:a16="http://schemas.microsoft.com/office/drawing/2014/main" val="10002"/>
                  </a:ext>
                </a:extLst>
              </a:tr>
              <a:tr h="533400">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POST</a:t>
                      </a:r>
                    </a:p>
                  </a:txBody>
                  <a:tcPr>
                    <a:solidFill>
                      <a:srgbClr val="FFFFFF"/>
                    </a:solidFill>
                  </a:tcPr>
                </a:tc>
                <a:tc>
                  <a:txBody>
                    <a:bodyPr/>
                    <a:lstStyle/>
                    <a:p>
                      <a:pPr>
                        <a:defRPr sz="1200">
                          <a:solidFill>
                            <a:srgbClr val="302A2A"/>
                          </a:solidFill>
                          <a:latin typeface="Aptos"/>
                        </a:defRPr>
                      </a:pP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api</a:t>
                      </a:r>
                      <a:r>
                        <a:rPr dirty="0">
                          <a:latin typeface="Times New Roman" panose="02020603050405020304" pitchFamily="18" charset="0"/>
                          <a:cs typeface="Times New Roman" panose="02020603050405020304" pitchFamily="18" charset="0"/>
                        </a:rPr>
                        <a:t>/students</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Add a new student</a:t>
                      </a:r>
                    </a:p>
                  </a:txBody>
                  <a:tcPr>
                    <a:solidFill>
                      <a:srgbClr val="FFFFFF"/>
                    </a:solidFill>
                  </a:tcPr>
                </a:tc>
                <a:extLst>
                  <a:ext uri="{0D108BD9-81ED-4DB2-BD59-A6C34878D82A}">
                    <a16:rowId xmlns:a16="http://schemas.microsoft.com/office/drawing/2014/main" val="10003"/>
                  </a:ext>
                </a:extLst>
              </a:tr>
              <a:tr h="533400">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PUT</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/api/students/:id</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Update an existing student</a:t>
                      </a:r>
                    </a:p>
                  </a:txBody>
                  <a:tcPr>
                    <a:solidFill>
                      <a:srgbClr val="FFFFFF"/>
                    </a:solidFill>
                  </a:tcPr>
                </a:tc>
                <a:extLst>
                  <a:ext uri="{0D108BD9-81ED-4DB2-BD59-A6C34878D82A}">
                    <a16:rowId xmlns:a16="http://schemas.microsoft.com/office/drawing/2014/main" val="10004"/>
                  </a:ext>
                </a:extLst>
              </a:tr>
              <a:tr h="533400">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DELETE</a:t>
                      </a:r>
                    </a:p>
                  </a:txBody>
                  <a:tcPr>
                    <a:solidFill>
                      <a:srgbClr val="FFFFFF"/>
                    </a:solidFill>
                  </a:tcPr>
                </a:tc>
                <a:tc>
                  <a:txBody>
                    <a:bodyPr/>
                    <a:lstStyle/>
                    <a:p>
                      <a:pPr>
                        <a:defRPr sz="1200">
                          <a:solidFill>
                            <a:srgbClr val="302A2A"/>
                          </a:solidFill>
                          <a:latin typeface="Aptos"/>
                        </a:defRPr>
                      </a:pPr>
                      <a:r>
                        <a:rPr>
                          <a:latin typeface="Times New Roman" panose="02020603050405020304" pitchFamily="18" charset="0"/>
                          <a:cs typeface="Times New Roman" panose="02020603050405020304" pitchFamily="18" charset="0"/>
                        </a:rPr>
                        <a:t>/api/students/:id</a:t>
                      </a:r>
                    </a:p>
                  </a:txBody>
                  <a:tcPr>
                    <a:solidFill>
                      <a:srgbClr val="FFFFFF"/>
                    </a:solidFill>
                  </a:tcPr>
                </a:tc>
                <a:tc>
                  <a:txBody>
                    <a:bodyPr/>
                    <a:lstStyle/>
                    <a:p>
                      <a:pPr>
                        <a:defRPr sz="1200">
                          <a:solidFill>
                            <a:srgbClr val="302A2A"/>
                          </a:solidFill>
                          <a:latin typeface="Aptos"/>
                        </a:defRPr>
                      </a:pPr>
                      <a:r>
                        <a:rPr dirty="0">
                          <a:latin typeface="Times New Roman" panose="02020603050405020304" pitchFamily="18" charset="0"/>
                          <a:cs typeface="Times New Roman" panose="02020603050405020304" pitchFamily="18" charset="0"/>
                        </a:rPr>
                        <a:t>Delete a student record</a:t>
                      </a:r>
                    </a:p>
                  </a:txBody>
                  <a:tcP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097280" y="4892040"/>
            <a:ext cx="9966960" cy="8229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ectangle 7"/>
          <p:cNvSpPr/>
          <p:nvPr/>
        </p:nvSpPr>
        <p:spPr>
          <a:xfrm>
            <a:off x="1097280" y="4892040"/>
            <a:ext cx="73152" cy="82296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1298448" y="4988582"/>
            <a:ext cx="970137" cy="323165"/>
          </a:xfrm>
          <a:prstGeom prst="rect">
            <a:avLst/>
          </a:prstGeom>
          <a:noFill/>
        </p:spPr>
        <p:txBody>
          <a:bodyPr wrap="none">
            <a:spAutoFit/>
          </a:bodyPr>
          <a:lstStyle/>
          <a:p>
            <a:pPr>
              <a:defRPr sz="1500" b="1">
                <a:solidFill>
                  <a:srgbClr val="581423"/>
                </a:solidFill>
                <a:latin typeface="Aptos Display"/>
              </a:defRPr>
            </a:pPr>
            <a:r>
              <a:rPr dirty="0">
                <a:latin typeface="Times New Roman" panose="02020603050405020304" pitchFamily="18" charset="0"/>
                <a:cs typeface="Times New Roman" panose="02020603050405020304" pitchFamily="18" charset="0"/>
              </a:rPr>
              <a:t>API Flow</a:t>
            </a:r>
          </a:p>
        </p:txBody>
      </p:sp>
      <p:sp>
        <p:nvSpPr>
          <p:cNvPr id="10" name="TextBox 9"/>
          <p:cNvSpPr txBox="1"/>
          <p:nvPr/>
        </p:nvSpPr>
        <p:spPr>
          <a:xfrm>
            <a:off x="1316736" y="5398055"/>
            <a:ext cx="9601200" cy="307777"/>
          </a:xfrm>
          <a:prstGeom prst="rect">
            <a:avLst/>
          </a:prstGeom>
          <a:noFill/>
        </p:spPr>
        <p:txBody>
          <a:bodyPr wrap="square">
            <a:spAutoFit/>
          </a:bodyPr>
          <a:lstStyle/>
          <a:p>
            <a:pPr>
              <a:defRPr sz="1400">
                <a:solidFill>
                  <a:srgbClr val="302A2A"/>
                </a:solidFill>
                <a:latin typeface="Aptos"/>
              </a:defRPr>
            </a:pPr>
            <a:r>
              <a:rPr dirty="0">
                <a:latin typeface="Times New Roman" panose="02020603050405020304" pitchFamily="18" charset="0"/>
                <a:cs typeface="Times New Roman" panose="02020603050405020304" pitchFamily="18" charset="0"/>
              </a:rPr>
              <a:t>React.js → Axios → Express route → Mongoose → MongoDB Atlas → JSON response</a:t>
            </a:r>
          </a:p>
        </p:txBody>
      </p:sp>
      <p:sp>
        <p:nvSpPr>
          <p:cNvPr id="11" name="Rectangle 10"/>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13" name="TextBox 12"/>
          <p:cNvSpPr txBox="1"/>
          <p:nvPr/>
        </p:nvSpPr>
        <p:spPr>
          <a:xfrm>
            <a:off x="11279066" y="6519672"/>
            <a:ext cx="242374"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3382657"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CRUD Implementation</a:t>
            </a:r>
          </a:p>
        </p:txBody>
      </p:sp>
      <p:sp>
        <p:nvSpPr>
          <p:cNvPr id="5" name="TextBox 4"/>
          <p:cNvSpPr txBox="1"/>
          <p:nvPr/>
        </p:nvSpPr>
        <p:spPr>
          <a:xfrm>
            <a:off x="621792" y="932688"/>
            <a:ext cx="2347117"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Core record-management operations</a:t>
            </a:r>
          </a:p>
        </p:txBody>
      </p:sp>
      <p:sp>
        <p:nvSpPr>
          <p:cNvPr id="6" name="Rounded Rectangle 5"/>
          <p:cNvSpPr/>
          <p:nvPr/>
        </p:nvSpPr>
        <p:spPr>
          <a:xfrm>
            <a:off x="731520" y="1325880"/>
            <a:ext cx="5212080" cy="178308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731520" y="1325880"/>
            <a:ext cx="73152" cy="178308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932688" y="1490472"/>
            <a:ext cx="1077411" cy="353943"/>
          </a:xfrm>
          <a:prstGeom prst="rect">
            <a:avLst/>
          </a:prstGeom>
          <a:noFill/>
        </p:spPr>
        <p:txBody>
          <a:bodyPr wrap="none">
            <a:spAutoFit/>
          </a:bodyPr>
          <a:lstStyle/>
          <a:p>
            <a:pPr>
              <a:defRPr sz="1700" b="1">
                <a:solidFill>
                  <a:srgbClr val="581423"/>
                </a:solidFill>
                <a:latin typeface="Aptos Display"/>
              </a:defRPr>
            </a:pPr>
            <a:r>
              <a:rPr>
                <a:latin typeface="Times New Roman" panose="02020603050405020304" pitchFamily="18" charset="0"/>
                <a:cs typeface="Times New Roman" panose="02020603050405020304" pitchFamily="18" charset="0"/>
              </a:rPr>
              <a:t>CREATE</a:t>
            </a:r>
          </a:p>
        </p:txBody>
      </p:sp>
      <p:sp>
        <p:nvSpPr>
          <p:cNvPr id="9" name="TextBox 8"/>
          <p:cNvSpPr txBox="1"/>
          <p:nvPr/>
        </p:nvSpPr>
        <p:spPr>
          <a:xfrm>
            <a:off x="932688" y="1920240"/>
            <a:ext cx="4846320" cy="692497"/>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POST /api/students</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Add Student form → API → MongoDB</a:t>
            </a:r>
          </a:p>
        </p:txBody>
      </p:sp>
      <p:sp>
        <p:nvSpPr>
          <p:cNvPr id="10" name="Rounded Rectangle 9"/>
          <p:cNvSpPr/>
          <p:nvPr/>
        </p:nvSpPr>
        <p:spPr>
          <a:xfrm>
            <a:off x="6263640" y="1325880"/>
            <a:ext cx="5212080" cy="178308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6263640" y="1325880"/>
            <a:ext cx="73152" cy="178308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6464807" y="1490472"/>
            <a:ext cx="801823" cy="353943"/>
          </a:xfrm>
          <a:prstGeom prst="rect">
            <a:avLst/>
          </a:prstGeom>
          <a:noFill/>
        </p:spPr>
        <p:txBody>
          <a:bodyPr wrap="none">
            <a:spAutoFit/>
          </a:bodyPr>
          <a:lstStyle/>
          <a:p>
            <a:pPr>
              <a:defRPr sz="1700" b="1">
                <a:solidFill>
                  <a:srgbClr val="581423"/>
                </a:solidFill>
                <a:latin typeface="Aptos Display"/>
              </a:defRPr>
            </a:pPr>
            <a:r>
              <a:rPr>
                <a:latin typeface="Times New Roman" panose="02020603050405020304" pitchFamily="18" charset="0"/>
                <a:cs typeface="Times New Roman" panose="02020603050405020304" pitchFamily="18" charset="0"/>
              </a:rPr>
              <a:t>READ</a:t>
            </a:r>
          </a:p>
        </p:txBody>
      </p:sp>
      <p:sp>
        <p:nvSpPr>
          <p:cNvPr id="13" name="TextBox 12"/>
          <p:cNvSpPr txBox="1"/>
          <p:nvPr/>
        </p:nvSpPr>
        <p:spPr>
          <a:xfrm>
            <a:off x="6464807" y="1920240"/>
            <a:ext cx="4846320" cy="692497"/>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GET /api/students</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Retrieve and display student records</a:t>
            </a:r>
          </a:p>
        </p:txBody>
      </p:sp>
      <p:sp>
        <p:nvSpPr>
          <p:cNvPr id="14" name="Rounded Rectangle 13"/>
          <p:cNvSpPr/>
          <p:nvPr/>
        </p:nvSpPr>
        <p:spPr>
          <a:xfrm>
            <a:off x="731520" y="3383280"/>
            <a:ext cx="5212080" cy="178308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731520" y="3383280"/>
            <a:ext cx="73152" cy="178308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932688" y="3547872"/>
            <a:ext cx="1064587" cy="353943"/>
          </a:xfrm>
          <a:prstGeom prst="rect">
            <a:avLst/>
          </a:prstGeom>
          <a:noFill/>
        </p:spPr>
        <p:txBody>
          <a:bodyPr wrap="none">
            <a:spAutoFit/>
          </a:bodyPr>
          <a:lstStyle/>
          <a:p>
            <a:pPr>
              <a:defRPr sz="1700" b="1">
                <a:solidFill>
                  <a:srgbClr val="581423"/>
                </a:solidFill>
                <a:latin typeface="Aptos Display"/>
              </a:defRPr>
            </a:pPr>
            <a:r>
              <a:rPr>
                <a:latin typeface="Times New Roman" panose="02020603050405020304" pitchFamily="18" charset="0"/>
                <a:cs typeface="Times New Roman" panose="02020603050405020304" pitchFamily="18" charset="0"/>
              </a:rPr>
              <a:t>UPDATE</a:t>
            </a:r>
          </a:p>
        </p:txBody>
      </p:sp>
      <p:sp>
        <p:nvSpPr>
          <p:cNvPr id="17" name="TextBox 16"/>
          <p:cNvSpPr txBox="1"/>
          <p:nvPr/>
        </p:nvSpPr>
        <p:spPr>
          <a:xfrm>
            <a:off x="932688" y="3977640"/>
            <a:ext cx="4846320" cy="692497"/>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PUT /api/students/:id</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Edit form → API → updated record</a:t>
            </a:r>
          </a:p>
        </p:txBody>
      </p:sp>
      <p:sp>
        <p:nvSpPr>
          <p:cNvPr id="18" name="Rounded Rectangle 17"/>
          <p:cNvSpPr/>
          <p:nvPr/>
        </p:nvSpPr>
        <p:spPr>
          <a:xfrm>
            <a:off x="6263640" y="3383280"/>
            <a:ext cx="5212080" cy="178308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6263640" y="3383280"/>
            <a:ext cx="73152" cy="178308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6464807" y="3547872"/>
            <a:ext cx="1071127" cy="353943"/>
          </a:xfrm>
          <a:prstGeom prst="rect">
            <a:avLst/>
          </a:prstGeom>
          <a:noFill/>
        </p:spPr>
        <p:txBody>
          <a:bodyPr wrap="none">
            <a:spAutoFit/>
          </a:bodyPr>
          <a:lstStyle/>
          <a:p>
            <a:pPr>
              <a:defRPr sz="1700" b="1">
                <a:solidFill>
                  <a:srgbClr val="581423"/>
                </a:solidFill>
                <a:latin typeface="Aptos Display"/>
              </a:defRPr>
            </a:pPr>
            <a:r>
              <a:rPr>
                <a:latin typeface="Times New Roman" panose="02020603050405020304" pitchFamily="18" charset="0"/>
                <a:cs typeface="Times New Roman" panose="02020603050405020304" pitchFamily="18" charset="0"/>
              </a:rPr>
              <a:t>DELETE</a:t>
            </a:r>
          </a:p>
        </p:txBody>
      </p:sp>
      <p:sp>
        <p:nvSpPr>
          <p:cNvPr id="21" name="TextBox 20"/>
          <p:cNvSpPr txBox="1"/>
          <p:nvPr/>
        </p:nvSpPr>
        <p:spPr>
          <a:xfrm>
            <a:off x="6464807" y="3977640"/>
            <a:ext cx="4846320" cy="692497"/>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DELETE /api/students/:id</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Confirmation → API → record removed</a:t>
            </a:r>
          </a:p>
        </p:txBody>
      </p:sp>
      <p:sp>
        <p:nvSpPr>
          <p:cNvPr id="22" name="Rectangle 21"/>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24" name="TextBox 23"/>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4167616"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Validation, Testing &amp; Results</a:t>
            </a:r>
          </a:p>
        </p:txBody>
      </p:sp>
      <p:sp>
        <p:nvSpPr>
          <p:cNvPr id="5" name="TextBox 4"/>
          <p:cNvSpPr txBox="1"/>
          <p:nvPr/>
        </p:nvSpPr>
        <p:spPr>
          <a:xfrm>
            <a:off x="621792" y="932688"/>
            <a:ext cx="3257623"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How correctness and data consistency were verified</a:t>
            </a:r>
          </a:p>
        </p:txBody>
      </p:sp>
      <p:sp>
        <p:nvSpPr>
          <p:cNvPr id="6" name="Rounded Rectangle 5"/>
          <p:cNvSpPr/>
          <p:nvPr/>
        </p:nvSpPr>
        <p:spPr>
          <a:xfrm>
            <a:off x="640080" y="1325880"/>
            <a:ext cx="3474720" cy="43434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40080" y="1325880"/>
            <a:ext cx="73152" cy="43434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41247" y="1490472"/>
            <a:ext cx="1032655"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Validation</a:t>
            </a:r>
          </a:p>
        </p:txBody>
      </p:sp>
      <p:sp>
        <p:nvSpPr>
          <p:cNvPr id="9" name="TextBox 8"/>
          <p:cNvSpPr txBox="1"/>
          <p:nvPr/>
        </p:nvSpPr>
        <p:spPr>
          <a:xfrm>
            <a:off x="841247" y="1920240"/>
            <a:ext cx="3108960" cy="2208297"/>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Frontend: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Required-field checks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Prevents incomplete submission</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Backend: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Required schema fields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Course/year restrictions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Unique Student ID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Lowercase email</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Delete confirmation is shown before removal.</a:t>
            </a:r>
          </a:p>
        </p:txBody>
      </p:sp>
      <p:sp>
        <p:nvSpPr>
          <p:cNvPr id="10" name="Rounded Rectangle 9"/>
          <p:cNvSpPr/>
          <p:nvPr/>
        </p:nvSpPr>
        <p:spPr>
          <a:xfrm>
            <a:off x="4343400" y="1325880"/>
            <a:ext cx="3474720" cy="43434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4343400" y="1325880"/>
            <a:ext cx="73152" cy="43434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4544568" y="1490472"/>
            <a:ext cx="776175"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Testing</a:t>
            </a:r>
          </a:p>
        </p:txBody>
      </p:sp>
      <p:sp>
        <p:nvSpPr>
          <p:cNvPr id="13" name="TextBox 12"/>
          <p:cNvSpPr txBox="1"/>
          <p:nvPr/>
        </p:nvSpPr>
        <p:spPr>
          <a:xfrm>
            <a:off x="4544568" y="1920240"/>
            <a:ext cx="3108960" cy="1823576"/>
          </a:xfrm>
          <a:prstGeom prst="rect">
            <a:avLst/>
          </a:prstGeom>
          <a:noFill/>
        </p:spPr>
        <p:txBody>
          <a:bodyPr wrap="square">
            <a:spAutoFit/>
          </a:bodyPr>
          <a:lstStyle/>
          <a:p>
            <a:pPr>
              <a:defRPr sz="1250">
                <a:solidFill>
                  <a:srgbClr val="302A2A"/>
                </a:solidFill>
                <a:latin typeface="Aptos"/>
              </a:defRPr>
            </a:pPr>
            <a:r>
              <a:rPr>
                <a:latin typeface="Times New Roman" panose="02020603050405020304" pitchFamily="18" charset="0"/>
                <a:cs typeface="Times New Roman" panose="02020603050405020304" pitchFamily="18" charset="0"/>
              </a:rPr>
              <a:t>CRUD operations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Search by name / ID / course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Course and year filters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Combined filters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Empty-field validation</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Duplicate Student ID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Delete confirmation</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Data persistence after refresh</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Deployment verification</a:t>
            </a:r>
          </a:p>
        </p:txBody>
      </p:sp>
      <p:sp>
        <p:nvSpPr>
          <p:cNvPr id="14" name="Rounded Rectangle 13"/>
          <p:cNvSpPr/>
          <p:nvPr/>
        </p:nvSpPr>
        <p:spPr>
          <a:xfrm>
            <a:off x="8046720" y="1325880"/>
            <a:ext cx="3474720" cy="43434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8046720" y="1325880"/>
            <a:ext cx="73152" cy="43434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247888" y="1490472"/>
            <a:ext cx="708848"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Result</a:t>
            </a:r>
          </a:p>
        </p:txBody>
      </p:sp>
      <p:sp>
        <p:nvSpPr>
          <p:cNvPr id="17" name="TextBox 16"/>
          <p:cNvSpPr txBox="1"/>
          <p:nvPr/>
        </p:nvSpPr>
        <p:spPr>
          <a:xfrm>
            <a:off x="8247888" y="1920240"/>
            <a:ext cx="3108960" cy="2292935"/>
          </a:xfrm>
          <a:prstGeom prst="rect">
            <a:avLst/>
          </a:prstGeom>
          <a:noFill/>
        </p:spPr>
        <p:txBody>
          <a:bodyPr wrap="square">
            <a:spAutoFit/>
          </a:bodyPr>
          <a:lstStyle/>
          <a:p>
            <a:pPr>
              <a:defRPr sz="1300">
                <a:solidFill>
                  <a:srgbClr val="302A2A"/>
                </a:solidFill>
                <a:latin typeface="Aptos"/>
              </a:defRPr>
            </a:pPr>
            <a:r>
              <a:rPr>
                <a:latin typeface="Times New Roman" panose="02020603050405020304" pitchFamily="18" charset="0"/>
                <a:cs typeface="Times New Roman" panose="02020603050405020304" pitchFamily="18" charset="0"/>
              </a:rPr>
              <a:t>The implemented test cases produced the expected results.</a:t>
            </a:r>
            <a:br>
              <a:rPr>
                <a:latin typeface="Times New Roman" panose="02020603050405020304" pitchFamily="18" charset="0"/>
                <a:cs typeface="Times New Roman" panose="02020603050405020304" pitchFamily="18" charset="0"/>
              </a:rPr>
            </a:b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Core requirements verified: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CRUD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Search</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Filtering</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Validation</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Data persistence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Frontend–backend integration</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 Deployed application</a:t>
            </a:r>
          </a:p>
        </p:txBody>
      </p:sp>
      <p:sp>
        <p:nvSpPr>
          <p:cNvPr id="18" name="Rectangle 17"/>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20" name="TextBox 19"/>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3591689"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UI Design &amp; Screenshots</a:t>
            </a:r>
          </a:p>
        </p:txBody>
      </p:sp>
      <p:sp>
        <p:nvSpPr>
          <p:cNvPr id="5" name="TextBox 4"/>
          <p:cNvSpPr txBox="1"/>
          <p:nvPr/>
        </p:nvSpPr>
        <p:spPr>
          <a:xfrm>
            <a:off x="621792" y="932688"/>
            <a:ext cx="3836307"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Burgundy Luxe dashboard and student-management interface</a:t>
            </a:r>
          </a:p>
        </p:txBody>
      </p:sp>
      <p:sp>
        <p:nvSpPr>
          <p:cNvPr id="8" name="Rounded Rectangle 7"/>
          <p:cNvSpPr/>
          <p:nvPr/>
        </p:nvSpPr>
        <p:spPr>
          <a:xfrm>
            <a:off x="1051560" y="5486400"/>
            <a:ext cx="9966960" cy="59436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Rectangle 8"/>
          <p:cNvSpPr/>
          <p:nvPr/>
        </p:nvSpPr>
        <p:spPr>
          <a:xfrm>
            <a:off x="1051560" y="5486400"/>
            <a:ext cx="73152" cy="59436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1252728" y="5650992"/>
            <a:ext cx="1609736"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Design Principles</a:t>
            </a:r>
          </a:p>
        </p:txBody>
      </p:sp>
      <p:sp>
        <p:nvSpPr>
          <p:cNvPr id="11" name="TextBox 10"/>
          <p:cNvSpPr txBox="1"/>
          <p:nvPr/>
        </p:nvSpPr>
        <p:spPr>
          <a:xfrm>
            <a:off x="2862464" y="5654394"/>
            <a:ext cx="9601200" cy="292388"/>
          </a:xfrm>
          <a:prstGeom prst="rect">
            <a:avLst/>
          </a:prstGeom>
          <a:noFill/>
        </p:spPr>
        <p:txBody>
          <a:bodyPr wrap="square">
            <a:spAutoFit/>
          </a:bodyPr>
          <a:lstStyle/>
          <a:p>
            <a:pPr>
              <a:defRPr sz="1300">
                <a:solidFill>
                  <a:srgbClr val="302A2A"/>
                </a:solidFill>
                <a:latin typeface="Aptos"/>
              </a:defRPr>
            </a:pPr>
            <a:r>
              <a:rPr dirty="0">
                <a:latin typeface="Times New Roman" panose="02020603050405020304" pitchFamily="18" charset="0"/>
                <a:cs typeface="Times New Roman" panose="02020603050405020304" pitchFamily="18" charset="0"/>
              </a:rPr>
              <a:t>Consistency  •  Clarity  •  Navigation  •  Feedback  •  Responsiveness</a:t>
            </a:r>
          </a:p>
        </p:txBody>
      </p:sp>
      <p:sp>
        <p:nvSpPr>
          <p:cNvPr id="12" name="Rectangle 11"/>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TextBox 12"/>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14" name="TextBox 13"/>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12</a:t>
            </a:r>
          </a:p>
        </p:txBody>
      </p:sp>
      <p:sp>
        <p:nvSpPr>
          <p:cNvPr id="15" name="Rounded Rectangle 14"/>
          <p:cNvSpPr/>
          <p:nvPr/>
        </p:nvSpPr>
        <p:spPr>
          <a:xfrm>
            <a:off x="685800" y="1417320"/>
            <a:ext cx="3520440" cy="3566160"/>
          </a:xfrm>
          <a:prstGeom prst="roundRect">
            <a:avLst/>
          </a:prstGeom>
          <a:solidFill>
            <a:srgbClr val="FFFFFF"/>
          </a:solidFill>
          <a:ln w="12700">
            <a:solidFill>
              <a:srgbClr val="E1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16" name="Picture 15" descr="image9.png"/>
          <p:cNvPicPr>
            <a:picLocks noChangeAspect="1"/>
          </p:cNvPicPr>
          <p:nvPr/>
        </p:nvPicPr>
        <p:blipFill>
          <a:blip r:embed="rId2"/>
          <a:stretch>
            <a:fillRect/>
          </a:stretch>
        </p:blipFill>
        <p:spPr>
          <a:xfrm>
            <a:off x="895915" y="1911205"/>
            <a:ext cx="3105814" cy="2471111"/>
          </a:xfrm>
          <a:prstGeom prst="rect">
            <a:avLst/>
          </a:prstGeom>
        </p:spPr>
      </p:pic>
      <p:sp>
        <p:nvSpPr>
          <p:cNvPr id="17" name="TextBox 16"/>
          <p:cNvSpPr txBox="1"/>
          <p:nvPr/>
        </p:nvSpPr>
        <p:spPr>
          <a:xfrm>
            <a:off x="2020262" y="4599432"/>
            <a:ext cx="851515" cy="261610"/>
          </a:xfrm>
          <a:prstGeom prst="rect">
            <a:avLst/>
          </a:prstGeom>
          <a:noFill/>
        </p:spPr>
        <p:txBody>
          <a:bodyPr wrap="none">
            <a:spAutoFit/>
          </a:bodyPr>
          <a:lstStyle/>
          <a:p>
            <a:pPr algn="ctr">
              <a:defRPr sz="1100" b="1">
                <a:solidFill>
                  <a:srgbClr val="581423"/>
                </a:solidFill>
                <a:latin typeface="Aptos"/>
              </a:defRPr>
            </a:pPr>
            <a:r>
              <a:rPr>
                <a:latin typeface="Times New Roman" panose="02020603050405020304" pitchFamily="18" charset="0"/>
                <a:cs typeface="Times New Roman" panose="02020603050405020304" pitchFamily="18" charset="0"/>
              </a:rPr>
              <a:t>Dashboard</a:t>
            </a:r>
          </a:p>
        </p:txBody>
      </p:sp>
      <p:sp>
        <p:nvSpPr>
          <p:cNvPr id="18" name="Rounded Rectangle 17"/>
          <p:cNvSpPr/>
          <p:nvPr/>
        </p:nvSpPr>
        <p:spPr>
          <a:xfrm>
            <a:off x="4343400" y="1417320"/>
            <a:ext cx="3520440" cy="3566160"/>
          </a:xfrm>
          <a:prstGeom prst="roundRect">
            <a:avLst/>
          </a:prstGeom>
          <a:solidFill>
            <a:srgbClr val="FFFFFF"/>
          </a:solidFill>
          <a:ln w="12700">
            <a:solidFill>
              <a:srgbClr val="E1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19" name="Picture 18" descr="image10.png"/>
          <p:cNvPicPr>
            <a:picLocks noChangeAspect="1"/>
          </p:cNvPicPr>
          <p:nvPr/>
        </p:nvPicPr>
        <p:blipFill>
          <a:blip r:embed="rId3"/>
          <a:stretch>
            <a:fillRect/>
          </a:stretch>
        </p:blipFill>
        <p:spPr>
          <a:xfrm>
            <a:off x="4425696" y="1930711"/>
            <a:ext cx="3355848" cy="2344109"/>
          </a:xfrm>
          <a:prstGeom prst="rect">
            <a:avLst/>
          </a:prstGeom>
        </p:spPr>
      </p:pic>
      <p:sp>
        <p:nvSpPr>
          <p:cNvPr id="20" name="TextBox 19"/>
          <p:cNvSpPr txBox="1"/>
          <p:nvPr/>
        </p:nvSpPr>
        <p:spPr>
          <a:xfrm>
            <a:off x="5628970" y="4599432"/>
            <a:ext cx="949299" cy="261610"/>
          </a:xfrm>
          <a:prstGeom prst="rect">
            <a:avLst/>
          </a:prstGeom>
          <a:noFill/>
        </p:spPr>
        <p:txBody>
          <a:bodyPr wrap="none">
            <a:spAutoFit/>
          </a:bodyPr>
          <a:lstStyle/>
          <a:p>
            <a:pPr algn="ctr">
              <a:defRPr sz="1100" b="1">
                <a:solidFill>
                  <a:srgbClr val="581423"/>
                </a:solidFill>
                <a:latin typeface="Aptos"/>
              </a:defRPr>
            </a:pPr>
            <a:r>
              <a:rPr>
                <a:latin typeface="Times New Roman" panose="02020603050405020304" pitchFamily="18" charset="0"/>
                <a:cs typeface="Times New Roman" panose="02020603050405020304" pitchFamily="18" charset="0"/>
              </a:rPr>
              <a:t>Add Student</a:t>
            </a:r>
          </a:p>
        </p:txBody>
      </p:sp>
      <p:sp>
        <p:nvSpPr>
          <p:cNvPr id="21" name="Rounded Rectangle 20"/>
          <p:cNvSpPr/>
          <p:nvPr/>
        </p:nvSpPr>
        <p:spPr>
          <a:xfrm>
            <a:off x="8001000" y="1417320"/>
            <a:ext cx="3520440" cy="3566160"/>
          </a:xfrm>
          <a:prstGeom prst="roundRect">
            <a:avLst/>
          </a:prstGeom>
          <a:solidFill>
            <a:srgbClr val="FFFFFF"/>
          </a:solidFill>
          <a:ln w="12700">
            <a:solidFill>
              <a:srgbClr val="E1D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22" name="Picture 21" descr="image11.png"/>
          <p:cNvPicPr>
            <a:picLocks noChangeAspect="1"/>
          </p:cNvPicPr>
          <p:nvPr/>
        </p:nvPicPr>
        <p:blipFill>
          <a:blip r:embed="rId4"/>
          <a:stretch>
            <a:fillRect/>
          </a:stretch>
        </p:blipFill>
        <p:spPr>
          <a:xfrm>
            <a:off x="8074152" y="1940042"/>
            <a:ext cx="3355848" cy="2334777"/>
          </a:xfrm>
          <a:prstGeom prst="rect">
            <a:avLst/>
          </a:prstGeom>
        </p:spPr>
      </p:pic>
      <p:sp>
        <p:nvSpPr>
          <p:cNvPr id="23" name="TextBox 22"/>
          <p:cNvSpPr txBox="1"/>
          <p:nvPr/>
        </p:nvSpPr>
        <p:spPr>
          <a:xfrm>
            <a:off x="9127072" y="4599432"/>
            <a:ext cx="1268296" cy="261610"/>
          </a:xfrm>
          <a:prstGeom prst="rect">
            <a:avLst/>
          </a:prstGeom>
          <a:noFill/>
        </p:spPr>
        <p:txBody>
          <a:bodyPr wrap="none">
            <a:spAutoFit/>
          </a:bodyPr>
          <a:lstStyle/>
          <a:p>
            <a:pPr algn="ctr">
              <a:defRPr sz="1100" b="1">
                <a:solidFill>
                  <a:srgbClr val="581423"/>
                </a:solidFill>
                <a:latin typeface="Aptos"/>
              </a:defRPr>
            </a:pPr>
            <a:r>
              <a:rPr>
                <a:latin typeface="Times New Roman" panose="02020603050405020304" pitchFamily="18" charset="0"/>
                <a:cs typeface="Times New Roman" panose="02020603050405020304" pitchFamily="18" charset="0"/>
              </a:rPr>
              <a:t>Student Directory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4543167"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Deployment &amp; Live Application</a:t>
            </a:r>
          </a:p>
        </p:txBody>
      </p:sp>
      <p:sp>
        <p:nvSpPr>
          <p:cNvPr id="5" name="TextBox 4"/>
          <p:cNvSpPr txBox="1"/>
          <p:nvPr/>
        </p:nvSpPr>
        <p:spPr>
          <a:xfrm>
            <a:off x="621792" y="932688"/>
            <a:ext cx="2400016"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Render hosting with MongoDB Atlas</a:t>
            </a:r>
          </a:p>
        </p:txBody>
      </p:sp>
      <p:sp>
        <p:nvSpPr>
          <p:cNvPr id="6" name="Rounded Rectangle 5"/>
          <p:cNvSpPr/>
          <p:nvPr/>
        </p:nvSpPr>
        <p:spPr>
          <a:xfrm>
            <a:off x="685800" y="1325880"/>
            <a:ext cx="3429000" cy="141732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85800" y="1325880"/>
            <a:ext cx="73152" cy="141732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86968" y="1490472"/>
            <a:ext cx="950645"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Frontend</a:t>
            </a:r>
          </a:p>
        </p:txBody>
      </p:sp>
      <p:sp>
        <p:nvSpPr>
          <p:cNvPr id="9" name="TextBox 8"/>
          <p:cNvSpPr txBox="1"/>
          <p:nvPr/>
        </p:nvSpPr>
        <p:spPr>
          <a:xfrm>
            <a:off x="886968" y="1920240"/>
            <a:ext cx="3063240" cy="523220"/>
          </a:xfrm>
          <a:prstGeom prst="rect">
            <a:avLst/>
          </a:prstGeom>
          <a:noFill/>
        </p:spPr>
        <p:txBody>
          <a:bodyPr wrap="square">
            <a:spAutoFit/>
          </a:bodyPr>
          <a:lstStyle/>
          <a:p>
            <a:pPr>
              <a:defRPr sz="1400">
                <a:solidFill>
                  <a:srgbClr val="302A2A"/>
                </a:solidFill>
                <a:latin typeface="Aptos"/>
              </a:defRPr>
            </a:pPr>
            <a:r>
              <a:rPr>
                <a:latin typeface="Times New Roman" panose="02020603050405020304" pitchFamily="18" charset="0"/>
                <a:cs typeface="Times New Roman" panose="02020603050405020304" pitchFamily="18" charset="0"/>
              </a:rPr>
              <a:t>Render Static Site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React.js frontend</a:t>
            </a:r>
          </a:p>
        </p:txBody>
      </p:sp>
      <p:sp>
        <p:nvSpPr>
          <p:cNvPr id="10" name="Rounded Rectangle 9"/>
          <p:cNvSpPr/>
          <p:nvPr/>
        </p:nvSpPr>
        <p:spPr>
          <a:xfrm>
            <a:off x="4389120" y="1325880"/>
            <a:ext cx="3429000" cy="141732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4389120" y="1325880"/>
            <a:ext cx="73152" cy="141732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4590288" y="1490472"/>
            <a:ext cx="901209"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Backend</a:t>
            </a:r>
          </a:p>
        </p:txBody>
      </p:sp>
      <p:sp>
        <p:nvSpPr>
          <p:cNvPr id="13" name="TextBox 12"/>
          <p:cNvSpPr txBox="1"/>
          <p:nvPr/>
        </p:nvSpPr>
        <p:spPr>
          <a:xfrm>
            <a:off x="4590288" y="1920240"/>
            <a:ext cx="3063240" cy="523220"/>
          </a:xfrm>
          <a:prstGeom prst="rect">
            <a:avLst/>
          </a:prstGeom>
          <a:noFill/>
        </p:spPr>
        <p:txBody>
          <a:bodyPr wrap="square">
            <a:spAutoFit/>
          </a:bodyPr>
          <a:lstStyle/>
          <a:p>
            <a:pPr>
              <a:defRPr sz="1400">
                <a:solidFill>
                  <a:srgbClr val="302A2A"/>
                </a:solidFill>
                <a:latin typeface="Aptos"/>
              </a:defRPr>
            </a:pPr>
            <a:r>
              <a:rPr>
                <a:latin typeface="Times New Roman" panose="02020603050405020304" pitchFamily="18" charset="0"/>
                <a:cs typeface="Times New Roman" panose="02020603050405020304" pitchFamily="18" charset="0"/>
              </a:rPr>
              <a:t>Render Web Service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Node.js + Express.js REST API</a:t>
            </a:r>
          </a:p>
        </p:txBody>
      </p:sp>
      <p:sp>
        <p:nvSpPr>
          <p:cNvPr id="14" name="Rounded Rectangle 13"/>
          <p:cNvSpPr/>
          <p:nvPr/>
        </p:nvSpPr>
        <p:spPr>
          <a:xfrm>
            <a:off x="8092440" y="1325880"/>
            <a:ext cx="3429000" cy="141732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8092440" y="1325880"/>
            <a:ext cx="73152" cy="141732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293608" y="1490472"/>
            <a:ext cx="944489"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Database</a:t>
            </a:r>
          </a:p>
        </p:txBody>
      </p:sp>
      <p:sp>
        <p:nvSpPr>
          <p:cNvPr id="17" name="TextBox 16"/>
          <p:cNvSpPr txBox="1"/>
          <p:nvPr/>
        </p:nvSpPr>
        <p:spPr>
          <a:xfrm>
            <a:off x="8293608" y="1920240"/>
            <a:ext cx="3063240" cy="523220"/>
          </a:xfrm>
          <a:prstGeom prst="rect">
            <a:avLst/>
          </a:prstGeom>
          <a:noFill/>
        </p:spPr>
        <p:txBody>
          <a:bodyPr wrap="square">
            <a:spAutoFit/>
          </a:bodyPr>
          <a:lstStyle/>
          <a:p>
            <a:pPr>
              <a:defRPr sz="1400">
                <a:solidFill>
                  <a:srgbClr val="302A2A"/>
                </a:solidFill>
                <a:latin typeface="Aptos"/>
              </a:defRPr>
            </a:pPr>
            <a:r>
              <a:rPr>
                <a:latin typeface="Times New Roman" panose="02020603050405020304" pitchFamily="18" charset="0"/>
                <a:cs typeface="Times New Roman" panose="02020603050405020304" pitchFamily="18" charset="0"/>
              </a:rPr>
              <a:t>MongoDB Atlas</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Cloud student records</a:t>
            </a:r>
          </a:p>
        </p:txBody>
      </p:sp>
      <p:sp>
        <p:nvSpPr>
          <p:cNvPr id="18" name="Right Arrow 17"/>
          <p:cNvSpPr/>
          <p:nvPr/>
        </p:nvSpPr>
        <p:spPr>
          <a:xfrm>
            <a:off x="3977639" y="1810512"/>
            <a:ext cx="365760" cy="274320"/>
          </a:xfrm>
          <a:prstGeom prst="rightArrow">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ight Arrow 18"/>
          <p:cNvSpPr/>
          <p:nvPr/>
        </p:nvSpPr>
        <p:spPr>
          <a:xfrm>
            <a:off x="7680960" y="1810512"/>
            <a:ext cx="365760" cy="274320"/>
          </a:xfrm>
          <a:prstGeom prst="rightArrow">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Rounded Rectangle 19"/>
          <p:cNvSpPr/>
          <p:nvPr/>
        </p:nvSpPr>
        <p:spPr>
          <a:xfrm>
            <a:off x="914400" y="3337560"/>
            <a:ext cx="10332720" cy="18288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Rectangle 20"/>
          <p:cNvSpPr/>
          <p:nvPr/>
        </p:nvSpPr>
        <p:spPr>
          <a:xfrm>
            <a:off x="914400" y="3337560"/>
            <a:ext cx="73152" cy="18288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TextBox 21"/>
          <p:cNvSpPr txBox="1"/>
          <p:nvPr/>
        </p:nvSpPr>
        <p:spPr>
          <a:xfrm>
            <a:off x="1115568" y="3502152"/>
            <a:ext cx="2186561" cy="323165"/>
          </a:xfrm>
          <a:prstGeom prst="rect">
            <a:avLst/>
          </a:prstGeom>
          <a:noFill/>
        </p:spPr>
        <p:txBody>
          <a:bodyPr wrap="none">
            <a:spAutoFit/>
          </a:bodyPr>
          <a:lstStyle/>
          <a:p>
            <a:pPr>
              <a:defRPr sz="1500" b="1">
                <a:solidFill>
                  <a:srgbClr val="581423"/>
                </a:solidFill>
                <a:latin typeface="Aptos Display"/>
              </a:defRPr>
            </a:pPr>
            <a:r>
              <a:rPr>
                <a:latin typeface="Times New Roman" panose="02020603050405020304" pitchFamily="18" charset="0"/>
                <a:cs typeface="Times New Roman" panose="02020603050405020304" pitchFamily="18" charset="0"/>
              </a:rPr>
              <a:t>Deployment Verification</a:t>
            </a:r>
          </a:p>
        </p:txBody>
      </p:sp>
      <p:sp>
        <p:nvSpPr>
          <p:cNvPr id="23" name="TextBox 22"/>
          <p:cNvSpPr txBox="1"/>
          <p:nvPr/>
        </p:nvSpPr>
        <p:spPr>
          <a:xfrm>
            <a:off x="1115568" y="3931920"/>
            <a:ext cx="9966960" cy="553998"/>
          </a:xfrm>
          <a:prstGeom prst="rect">
            <a:avLst/>
          </a:prstGeom>
          <a:noFill/>
        </p:spPr>
        <p:txBody>
          <a:bodyPr wrap="square">
            <a:spAutoFit/>
          </a:bodyPr>
          <a:lstStyle/>
          <a:p>
            <a:pPr>
              <a:defRPr sz="1500">
                <a:solidFill>
                  <a:srgbClr val="302A2A"/>
                </a:solidFill>
                <a:latin typeface="Aptos"/>
              </a:defRPr>
            </a:pPr>
            <a:r>
              <a:rPr>
                <a:latin typeface="Times New Roman" panose="02020603050405020304" pitchFamily="18" charset="0"/>
                <a:cs typeface="Times New Roman" panose="02020603050405020304" pitchFamily="18" charset="0"/>
              </a:rPr>
              <a:t>The deployed frontend was tested against the deployed backend API. CRUD operations, search, filtering and validation were verified after deployment. MongoDB Atlas network access was configured so the deployed backend could connect successfully.</a:t>
            </a:r>
          </a:p>
        </p:txBody>
      </p:sp>
      <p:sp>
        <p:nvSpPr>
          <p:cNvPr id="24" name="Rounded Rectangle 23"/>
          <p:cNvSpPr/>
          <p:nvPr/>
        </p:nvSpPr>
        <p:spPr>
          <a:xfrm>
            <a:off x="914400" y="5440680"/>
            <a:ext cx="5029200" cy="658368"/>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Rectangle 24"/>
          <p:cNvSpPr/>
          <p:nvPr/>
        </p:nvSpPr>
        <p:spPr>
          <a:xfrm>
            <a:off x="914400" y="5440680"/>
            <a:ext cx="73152" cy="658368"/>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TextBox 25"/>
          <p:cNvSpPr txBox="1"/>
          <p:nvPr/>
        </p:nvSpPr>
        <p:spPr>
          <a:xfrm>
            <a:off x="1115568" y="5445133"/>
            <a:ext cx="1361014" cy="323165"/>
          </a:xfrm>
          <a:prstGeom prst="rect">
            <a:avLst/>
          </a:prstGeom>
          <a:noFill/>
        </p:spPr>
        <p:txBody>
          <a:bodyPr wrap="none">
            <a:spAutoFit/>
          </a:bodyPr>
          <a:lstStyle/>
          <a:p>
            <a:pPr>
              <a:defRPr sz="1500" b="1">
                <a:solidFill>
                  <a:srgbClr val="581423"/>
                </a:solidFill>
                <a:latin typeface="Aptos Display"/>
              </a:defRPr>
            </a:pPr>
            <a:r>
              <a:rPr dirty="0">
                <a:latin typeface="Times New Roman" panose="02020603050405020304" pitchFamily="18" charset="0"/>
                <a:cs typeface="Times New Roman" panose="02020603050405020304" pitchFamily="18" charset="0"/>
              </a:rPr>
              <a:t>Live Frontend</a:t>
            </a:r>
          </a:p>
        </p:txBody>
      </p:sp>
      <p:sp>
        <p:nvSpPr>
          <p:cNvPr id="27" name="TextBox 26"/>
          <p:cNvSpPr txBox="1"/>
          <p:nvPr/>
        </p:nvSpPr>
        <p:spPr>
          <a:xfrm>
            <a:off x="1082495" y="5799021"/>
            <a:ext cx="4663440" cy="446276"/>
          </a:xfrm>
          <a:prstGeom prst="rect">
            <a:avLst/>
          </a:prstGeom>
          <a:noFill/>
        </p:spPr>
        <p:txBody>
          <a:bodyPr wrap="square">
            <a:spAutoFit/>
          </a:bodyPr>
          <a:lstStyle/>
          <a:p>
            <a:pPr>
              <a:defRPr sz="1150">
                <a:solidFill>
                  <a:srgbClr val="302A2A"/>
                </a:solidFill>
                <a:latin typeface="Aptos"/>
              </a:defRPr>
            </a:pPr>
            <a:r>
              <a:rPr lang="en-US" sz="1150" dirty="0">
                <a:solidFill>
                  <a:srgbClr val="302A2A"/>
                </a:solidFill>
                <a:latin typeface="Times New Roman" panose="02020603050405020304" pitchFamily="18" charset="0"/>
                <a:cs typeface="Times New Roman" panose="02020603050405020304" pitchFamily="18" charset="0"/>
                <a:hlinkClick r:id="rId2"/>
              </a:rPr>
              <a:t>https://student-management-system-ijhy.onrender.com</a:t>
            </a:r>
            <a:endParaRPr lang="en-US" sz="1150" dirty="0">
              <a:solidFill>
                <a:srgbClr val="302A2A"/>
              </a:solidFill>
              <a:latin typeface="Times New Roman" panose="02020603050405020304" pitchFamily="18" charset="0"/>
              <a:cs typeface="Times New Roman" panose="02020603050405020304" pitchFamily="18" charset="0"/>
            </a:endParaRPr>
          </a:p>
          <a:p>
            <a:pPr>
              <a:defRPr sz="1150">
                <a:solidFill>
                  <a:srgbClr val="302A2A"/>
                </a:solidFill>
                <a:latin typeface="Aptos"/>
              </a:defRPr>
            </a:pPr>
            <a:endParaRPr dirty="0">
              <a:latin typeface="Times New Roman" panose="02020603050405020304" pitchFamily="18" charset="0"/>
              <a:cs typeface="Times New Roman" panose="02020603050405020304" pitchFamily="18" charset="0"/>
            </a:endParaRPr>
          </a:p>
        </p:txBody>
      </p:sp>
      <p:sp>
        <p:nvSpPr>
          <p:cNvPr id="28" name="Rounded Rectangle 27"/>
          <p:cNvSpPr/>
          <p:nvPr/>
        </p:nvSpPr>
        <p:spPr>
          <a:xfrm>
            <a:off x="6217920" y="5440680"/>
            <a:ext cx="5029200" cy="658368"/>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Rectangle 28"/>
          <p:cNvSpPr/>
          <p:nvPr/>
        </p:nvSpPr>
        <p:spPr>
          <a:xfrm>
            <a:off x="6217920" y="5440680"/>
            <a:ext cx="73152" cy="658368"/>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p:cNvSpPr txBox="1"/>
          <p:nvPr/>
        </p:nvSpPr>
        <p:spPr>
          <a:xfrm>
            <a:off x="6369382" y="5437555"/>
            <a:ext cx="1311578" cy="323165"/>
          </a:xfrm>
          <a:prstGeom prst="rect">
            <a:avLst/>
          </a:prstGeom>
          <a:noFill/>
        </p:spPr>
        <p:txBody>
          <a:bodyPr wrap="none">
            <a:spAutoFit/>
          </a:bodyPr>
          <a:lstStyle/>
          <a:p>
            <a:pPr>
              <a:defRPr sz="1500" b="1">
                <a:solidFill>
                  <a:srgbClr val="581423"/>
                </a:solidFill>
                <a:latin typeface="Aptos Display"/>
              </a:defRPr>
            </a:pPr>
            <a:r>
              <a:rPr dirty="0">
                <a:latin typeface="Times New Roman" panose="02020603050405020304" pitchFamily="18" charset="0"/>
                <a:cs typeface="Times New Roman" panose="02020603050405020304" pitchFamily="18" charset="0"/>
              </a:rPr>
              <a:t>Live Backend</a:t>
            </a:r>
          </a:p>
        </p:txBody>
      </p:sp>
      <p:sp>
        <p:nvSpPr>
          <p:cNvPr id="31" name="TextBox 30"/>
          <p:cNvSpPr txBox="1"/>
          <p:nvPr/>
        </p:nvSpPr>
        <p:spPr>
          <a:xfrm>
            <a:off x="6369382" y="5781516"/>
            <a:ext cx="4663440" cy="446276"/>
          </a:xfrm>
          <a:prstGeom prst="rect">
            <a:avLst/>
          </a:prstGeom>
          <a:noFill/>
        </p:spPr>
        <p:txBody>
          <a:bodyPr wrap="square">
            <a:spAutoFit/>
          </a:bodyPr>
          <a:lstStyle/>
          <a:p>
            <a:pPr>
              <a:defRPr sz="1150">
                <a:solidFill>
                  <a:srgbClr val="302A2A"/>
                </a:solidFill>
                <a:latin typeface="Aptos"/>
              </a:defRPr>
            </a:pPr>
            <a:r>
              <a:rPr lang="en-US" sz="1150" dirty="0">
                <a:solidFill>
                  <a:srgbClr val="302A2A"/>
                </a:solidFill>
                <a:latin typeface="Times New Roman" panose="02020603050405020304" pitchFamily="18" charset="0"/>
                <a:cs typeface="Times New Roman" panose="02020603050405020304" pitchFamily="18" charset="0"/>
                <a:hlinkClick r:id="rId3"/>
              </a:rPr>
              <a:t>https://student-management-api-qjhd.onrender.com</a:t>
            </a:r>
            <a:endParaRPr lang="en-US" sz="1150" dirty="0">
              <a:solidFill>
                <a:srgbClr val="302A2A"/>
              </a:solidFill>
              <a:latin typeface="Times New Roman" panose="02020603050405020304" pitchFamily="18" charset="0"/>
              <a:cs typeface="Times New Roman" panose="02020603050405020304" pitchFamily="18" charset="0"/>
            </a:endParaRPr>
          </a:p>
          <a:p>
            <a:pPr>
              <a:defRPr sz="1150">
                <a:solidFill>
                  <a:srgbClr val="302A2A"/>
                </a:solidFill>
                <a:latin typeface="Aptos"/>
              </a:defRPr>
            </a:pPr>
            <a:endParaRPr lang="en-US" sz="1150" dirty="0">
              <a:solidFill>
                <a:srgbClr val="302A2A"/>
              </a:solidFill>
              <a:latin typeface="Times New Roman" panose="02020603050405020304" pitchFamily="18" charset="0"/>
              <a:cs typeface="Times New Roman" panose="02020603050405020304" pitchFamily="18" charset="0"/>
            </a:endParaRPr>
          </a:p>
        </p:txBody>
      </p:sp>
      <p:sp>
        <p:nvSpPr>
          <p:cNvPr id="32" name="Rectangle 31"/>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34" name="TextBox 33"/>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5256567"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Development Challenges &amp; Solutions</a:t>
            </a:r>
          </a:p>
        </p:txBody>
      </p:sp>
      <p:sp>
        <p:nvSpPr>
          <p:cNvPr id="5" name="TextBox 4"/>
          <p:cNvSpPr txBox="1"/>
          <p:nvPr/>
        </p:nvSpPr>
        <p:spPr>
          <a:xfrm>
            <a:off x="621792" y="932688"/>
            <a:ext cx="3246402"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Practical issues encountered during implementation</a:t>
            </a:r>
          </a:p>
        </p:txBody>
      </p:sp>
      <p:sp>
        <p:nvSpPr>
          <p:cNvPr id="6" name="Rounded Rectangle 5"/>
          <p:cNvSpPr/>
          <p:nvPr/>
        </p:nvSpPr>
        <p:spPr>
          <a:xfrm>
            <a:off x="685800" y="123444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685800" y="1234440"/>
            <a:ext cx="73152" cy="12344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886968" y="1399032"/>
            <a:ext cx="2438616" cy="295466"/>
          </a:xfrm>
          <a:prstGeom prst="rect">
            <a:avLst/>
          </a:prstGeom>
          <a:noFill/>
        </p:spPr>
        <p:txBody>
          <a:bodyPr wrap="none">
            <a:spAutoFit/>
          </a:bodyPr>
          <a:lstStyle/>
          <a:p>
            <a:pPr>
              <a:defRPr sz="1320" b="1">
                <a:solidFill>
                  <a:srgbClr val="581423"/>
                </a:solidFill>
                <a:latin typeface="Aptos Display"/>
              </a:defRPr>
            </a:pPr>
            <a:r>
              <a:rPr>
                <a:latin typeface="Times New Roman" panose="02020603050405020304" pitchFamily="18" charset="0"/>
                <a:cs typeface="Times New Roman" panose="02020603050405020304" pitchFamily="18" charset="0"/>
              </a:rPr>
              <a:t>Frontend–Backend Integration</a:t>
            </a:r>
          </a:p>
        </p:txBody>
      </p:sp>
      <p:sp>
        <p:nvSpPr>
          <p:cNvPr id="9" name="TextBox 8"/>
          <p:cNvSpPr txBox="1"/>
          <p:nvPr/>
        </p:nvSpPr>
        <p:spPr>
          <a:xfrm>
            <a:off x="886968" y="1828800"/>
            <a:ext cx="4892040" cy="273921"/>
          </a:xfrm>
          <a:prstGeom prst="rect">
            <a:avLst/>
          </a:prstGeom>
          <a:noFill/>
        </p:spPr>
        <p:txBody>
          <a:bodyPr wrap="square">
            <a:spAutoFit/>
          </a:bodyPr>
          <a:lstStyle/>
          <a:p>
            <a:pPr>
              <a:defRPr sz="1180">
                <a:solidFill>
                  <a:srgbClr val="302A2A"/>
                </a:solidFill>
                <a:latin typeface="Aptos"/>
              </a:defRPr>
            </a:pPr>
            <a:r>
              <a:rPr>
                <a:latin typeface="Times New Roman" panose="02020603050405020304" pitchFamily="18" charset="0"/>
                <a:cs typeface="Times New Roman" panose="02020603050405020304" pitchFamily="18" charset="0"/>
              </a:rPr>
              <a:t>Verified API endpoints and tested CRUD requests individually.</a:t>
            </a:r>
          </a:p>
        </p:txBody>
      </p:sp>
      <p:sp>
        <p:nvSpPr>
          <p:cNvPr id="10" name="Rounded Rectangle 9"/>
          <p:cNvSpPr/>
          <p:nvPr/>
        </p:nvSpPr>
        <p:spPr>
          <a:xfrm>
            <a:off x="6263640" y="123444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6263640" y="1234440"/>
            <a:ext cx="73152" cy="12344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6464807" y="1399032"/>
            <a:ext cx="2299284" cy="295466"/>
          </a:xfrm>
          <a:prstGeom prst="rect">
            <a:avLst/>
          </a:prstGeom>
          <a:noFill/>
        </p:spPr>
        <p:txBody>
          <a:bodyPr wrap="none">
            <a:spAutoFit/>
          </a:bodyPr>
          <a:lstStyle/>
          <a:p>
            <a:pPr>
              <a:defRPr sz="1320" b="1">
                <a:solidFill>
                  <a:srgbClr val="581423"/>
                </a:solidFill>
                <a:latin typeface="Aptos Display"/>
              </a:defRPr>
            </a:pPr>
            <a:r>
              <a:rPr>
                <a:latin typeface="Times New Roman" panose="02020603050405020304" pitchFamily="18" charset="0"/>
                <a:cs typeface="Times New Roman" panose="02020603050405020304" pitchFamily="18" charset="0"/>
              </a:rPr>
              <a:t>MongoDB Atlas Connectivity</a:t>
            </a:r>
          </a:p>
        </p:txBody>
      </p:sp>
      <p:sp>
        <p:nvSpPr>
          <p:cNvPr id="13" name="TextBox 12"/>
          <p:cNvSpPr txBox="1"/>
          <p:nvPr/>
        </p:nvSpPr>
        <p:spPr>
          <a:xfrm>
            <a:off x="6464807" y="1828800"/>
            <a:ext cx="4892040" cy="273921"/>
          </a:xfrm>
          <a:prstGeom prst="rect">
            <a:avLst/>
          </a:prstGeom>
          <a:noFill/>
        </p:spPr>
        <p:txBody>
          <a:bodyPr wrap="square">
            <a:spAutoFit/>
          </a:bodyPr>
          <a:lstStyle/>
          <a:p>
            <a:pPr>
              <a:defRPr sz="1180">
                <a:solidFill>
                  <a:srgbClr val="302A2A"/>
                </a:solidFill>
                <a:latin typeface="Aptos"/>
              </a:defRPr>
            </a:pPr>
            <a:r>
              <a:rPr>
                <a:latin typeface="Times New Roman" panose="02020603050405020304" pitchFamily="18" charset="0"/>
                <a:cs typeface="Times New Roman" panose="02020603050405020304" pitchFamily="18" charset="0"/>
              </a:rPr>
              <a:t>Used environment variables and configured database network access.</a:t>
            </a:r>
          </a:p>
        </p:txBody>
      </p:sp>
      <p:sp>
        <p:nvSpPr>
          <p:cNvPr id="14" name="Rounded Rectangle 13"/>
          <p:cNvSpPr/>
          <p:nvPr/>
        </p:nvSpPr>
        <p:spPr>
          <a:xfrm>
            <a:off x="685800" y="274320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685800" y="2743200"/>
            <a:ext cx="73152" cy="12344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86968" y="2907792"/>
            <a:ext cx="1898405" cy="295466"/>
          </a:xfrm>
          <a:prstGeom prst="rect">
            <a:avLst/>
          </a:prstGeom>
          <a:noFill/>
        </p:spPr>
        <p:txBody>
          <a:bodyPr wrap="none">
            <a:spAutoFit/>
          </a:bodyPr>
          <a:lstStyle/>
          <a:p>
            <a:pPr>
              <a:defRPr sz="1320" b="1">
                <a:solidFill>
                  <a:srgbClr val="581423"/>
                </a:solidFill>
                <a:latin typeface="Aptos Display"/>
              </a:defRPr>
            </a:pPr>
            <a:r>
              <a:rPr>
                <a:latin typeface="Times New Roman" panose="02020603050405020304" pitchFamily="18" charset="0"/>
                <a:cs typeface="Times New Roman" panose="02020603050405020304" pitchFamily="18" charset="0"/>
              </a:rPr>
              <a:t>CRUD Synchronization</a:t>
            </a:r>
          </a:p>
        </p:txBody>
      </p:sp>
      <p:sp>
        <p:nvSpPr>
          <p:cNvPr id="17" name="TextBox 16"/>
          <p:cNvSpPr txBox="1"/>
          <p:nvPr/>
        </p:nvSpPr>
        <p:spPr>
          <a:xfrm>
            <a:off x="886968" y="3337560"/>
            <a:ext cx="4892040" cy="273921"/>
          </a:xfrm>
          <a:prstGeom prst="rect">
            <a:avLst/>
          </a:prstGeom>
          <a:noFill/>
        </p:spPr>
        <p:txBody>
          <a:bodyPr wrap="square">
            <a:spAutoFit/>
          </a:bodyPr>
          <a:lstStyle/>
          <a:p>
            <a:pPr>
              <a:defRPr sz="1180">
                <a:solidFill>
                  <a:srgbClr val="302A2A"/>
                </a:solidFill>
                <a:latin typeface="Aptos"/>
              </a:defRPr>
            </a:pPr>
            <a:r>
              <a:rPr>
                <a:latin typeface="Times New Roman" panose="02020603050405020304" pitchFamily="18" charset="0"/>
                <a:cs typeface="Times New Roman" panose="02020603050405020304" pitchFamily="18" charset="0"/>
              </a:rPr>
              <a:t>Updated React state after add, edit and delete operations.</a:t>
            </a:r>
          </a:p>
        </p:txBody>
      </p:sp>
      <p:sp>
        <p:nvSpPr>
          <p:cNvPr id="18" name="Rounded Rectangle 17"/>
          <p:cNvSpPr/>
          <p:nvPr/>
        </p:nvSpPr>
        <p:spPr>
          <a:xfrm>
            <a:off x="6263640" y="274320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6263640" y="2743200"/>
            <a:ext cx="73152" cy="12344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6464807" y="2907792"/>
            <a:ext cx="1536126" cy="295466"/>
          </a:xfrm>
          <a:prstGeom prst="rect">
            <a:avLst/>
          </a:prstGeom>
          <a:noFill/>
        </p:spPr>
        <p:txBody>
          <a:bodyPr wrap="none">
            <a:spAutoFit/>
          </a:bodyPr>
          <a:lstStyle/>
          <a:p>
            <a:pPr>
              <a:defRPr sz="1320" b="1">
                <a:solidFill>
                  <a:srgbClr val="581423"/>
                </a:solidFill>
                <a:latin typeface="Aptos Display"/>
              </a:defRPr>
            </a:pPr>
            <a:r>
              <a:rPr>
                <a:latin typeface="Times New Roman" panose="02020603050405020304" pitchFamily="18" charset="0"/>
                <a:cs typeface="Times New Roman" panose="02020603050405020304" pitchFamily="18" charset="0"/>
              </a:rPr>
              <a:t>Search &amp; Filtering</a:t>
            </a:r>
          </a:p>
        </p:txBody>
      </p:sp>
      <p:sp>
        <p:nvSpPr>
          <p:cNvPr id="21" name="TextBox 20"/>
          <p:cNvSpPr txBox="1"/>
          <p:nvPr/>
        </p:nvSpPr>
        <p:spPr>
          <a:xfrm>
            <a:off x="6464807" y="3337560"/>
            <a:ext cx="4892040" cy="273921"/>
          </a:xfrm>
          <a:prstGeom prst="rect">
            <a:avLst/>
          </a:prstGeom>
          <a:noFill/>
        </p:spPr>
        <p:txBody>
          <a:bodyPr wrap="square">
            <a:spAutoFit/>
          </a:bodyPr>
          <a:lstStyle/>
          <a:p>
            <a:pPr>
              <a:defRPr sz="1180">
                <a:solidFill>
                  <a:srgbClr val="302A2A"/>
                </a:solidFill>
                <a:latin typeface="Aptos"/>
              </a:defRPr>
            </a:pPr>
            <a:r>
              <a:rPr>
                <a:latin typeface="Times New Roman" panose="02020603050405020304" pitchFamily="18" charset="0"/>
                <a:cs typeface="Times New Roman" panose="02020603050405020304" pitchFamily="18" charset="0"/>
              </a:rPr>
              <a:t>Combined search term, course and year conditions in frontend logic.</a:t>
            </a:r>
          </a:p>
        </p:txBody>
      </p:sp>
      <p:sp>
        <p:nvSpPr>
          <p:cNvPr id="22" name="Rounded Rectangle 21"/>
          <p:cNvSpPr/>
          <p:nvPr/>
        </p:nvSpPr>
        <p:spPr>
          <a:xfrm>
            <a:off x="685800" y="425196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Rectangle 22"/>
          <p:cNvSpPr/>
          <p:nvPr/>
        </p:nvSpPr>
        <p:spPr>
          <a:xfrm>
            <a:off x="685800" y="4251960"/>
            <a:ext cx="73152" cy="123444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886968" y="4416552"/>
            <a:ext cx="930576" cy="295466"/>
          </a:xfrm>
          <a:prstGeom prst="rect">
            <a:avLst/>
          </a:prstGeom>
          <a:noFill/>
        </p:spPr>
        <p:txBody>
          <a:bodyPr wrap="none">
            <a:spAutoFit/>
          </a:bodyPr>
          <a:lstStyle/>
          <a:p>
            <a:pPr>
              <a:defRPr sz="1320" b="1">
                <a:solidFill>
                  <a:srgbClr val="581423"/>
                </a:solidFill>
                <a:latin typeface="Aptos Display"/>
              </a:defRPr>
            </a:pPr>
            <a:r>
              <a:rPr>
                <a:latin typeface="Times New Roman" panose="02020603050405020304" pitchFamily="18" charset="0"/>
                <a:cs typeface="Times New Roman" panose="02020603050405020304" pitchFamily="18" charset="0"/>
              </a:rPr>
              <a:t>Validation</a:t>
            </a:r>
          </a:p>
        </p:txBody>
      </p:sp>
      <p:sp>
        <p:nvSpPr>
          <p:cNvPr id="25" name="TextBox 24"/>
          <p:cNvSpPr txBox="1"/>
          <p:nvPr/>
        </p:nvSpPr>
        <p:spPr>
          <a:xfrm>
            <a:off x="886968" y="4846320"/>
            <a:ext cx="4892040" cy="273921"/>
          </a:xfrm>
          <a:prstGeom prst="rect">
            <a:avLst/>
          </a:prstGeom>
          <a:noFill/>
        </p:spPr>
        <p:txBody>
          <a:bodyPr wrap="square">
            <a:spAutoFit/>
          </a:bodyPr>
          <a:lstStyle/>
          <a:p>
            <a:pPr>
              <a:defRPr sz="1180">
                <a:solidFill>
                  <a:srgbClr val="302A2A"/>
                </a:solidFill>
                <a:latin typeface="Aptos"/>
              </a:defRPr>
            </a:pPr>
            <a:r>
              <a:rPr>
                <a:latin typeface="Times New Roman" panose="02020603050405020304" pitchFamily="18" charset="0"/>
                <a:cs typeface="Times New Roman" panose="02020603050405020304" pitchFamily="18" charset="0"/>
              </a:rPr>
              <a:t>Frontend required-field checks plus Mongoose constraints.</a:t>
            </a:r>
          </a:p>
        </p:txBody>
      </p:sp>
      <p:sp>
        <p:nvSpPr>
          <p:cNvPr id="26" name="Rounded Rectangle 25"/>
          <p:cNvSpPr/>
          <p:nvPr/>
        </p:nvSpPr>
        <p:spPr>
          <a:xfrm>
            <a:off x="6263640" y="4251960"/>
            <a:ext cx="5257800" cy="123444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Rectangle 26"/>
          <p:cNvSpPr/>
          <p:nvPr/>
        </p:nvSpPr>
        <p:spPr>
          <a:xfrm>
            <a:off x="6263640" y="4251960"/>
            <a:ext cx="73152" cy="123444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6464807" y="4416552"/>
            <a:ext cx="1059906" cy="295466"/>
          </a:xfrm>
          <a:prstGeom prst="rect">
            <a:avLst/>
          </a:prstGeom>
          <a:noFill/>
        </p:spPr>
        <p:txBody>
          <a:bodyPr wrap="none">
            <a:spAutoFit/>
          </a:bodyPr>
          <a:lstStyle/>
          <a:p>
            <a:pPr>
              <a:defRPr sz="1320" b="1">
                <a:solidFill>
                  <a:srgbClr val="581423"/>
                </a:solidFill>
                <a:latin typeface="Aptos Display"/>
              </a:defRPr>
            </a:pPr>
            <a:r>
              <a:rPr>
                <a:latin typeface="Times New Roman" panose="02020603050405020304" pitchFamily="18" charset="0"/>
                <a:cs typeface="Times New Roman" panose="02020603050405020304" pitchFamily="18" charset="0"/>
              </a:rPr>
              <a:t>Deployment</a:t>
            </a:r>
          </a:p>
        </p:txBody>
      </p:sp>
      <p:sp>
        <p:nvSpPr>
          <p:cNvPr id="29" name="TextBox 28"/>
          <p:cNvSpPr txBox="1"/>
          <p:nvPr/>
        </p:nvSpPr>
        <p:spPr>
          <a:xfrm>
            <a:off x="6464807" y="4846320"/>
            <a:ext cx="4892040" cy="273921"/>
          </a:xfrm>
          <a:prstGeom prst="rect">
            <a:avLst/>
          </a:prstGeom>
          <a:noFill/>
        </p:spPr>
        <p:txBody>
          <a:bodyPr wrap="square">
            <a:spAutoFit/>
          </a:bodyPr>
          <a:lstStyle/>
          <a:p>
            <a:pPr>
              <a:defRPr sz="1180">
                <a:solidFill>
                  <a:srgbClr val="302A2A"/>
                </a:solidFill>
                <a:latin typeface="Aptos"/>
              </a:defRPr>
            </a:pPr>
            <a:r>
              <a:rPr>
                <a:latin typeface="Times New Roman" panose="02020603050405020304" pitchFamily="18" charset="0"/>
                <a:cs typeface="Times New Roman" panose="02020603050405020304" pitchFamily="18" charset="0"/>
              </a:rPr>
              <a:t>Resolved initial Atlas connectivity issue for the deployed backend.</a:t>
            </a:r>
          </a:p>
        </p:txBody>
      </p:sp>
      <p:sp>
        <p:nvSpPr>
          <p:cNvPr id="30" name="Rectangle 29"/>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32" name="TextBox 31"/>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2903359"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Learning Outcomes</a:t>
            </a:r>
          </a:p>
        </p:txBody>
      </p:sp>
      <p:sp>
        <p:nvSpPr>
          <p:cNvPr id="5" name="TextBox 4"/>
          <p:cNvSpPr txBox="1"/>
          <p:nvPr/>
        </p:nvSpPr>
        <p:spPr>
          <a:xfrm>
            <a:off x="621792" y="932688"/>
            <a:ext cx="2747868"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Skills gained through the internship project</a:t>
            </a:r>
          </a:p>
        </p:txBody>
      </p:sp>
      <p:sp>
        <p:nvSpPr>
          <p:cNvPr id="6" name="TextBox 5"/>
          <p:cNvSpPr txBox="1"/>
          <p:nvPr/>
        </p:nvSpPr>
        <p:spPr>
          <a:xfrm>
            <a:off x="822960" y="1234440"/>
            <a:ext cx="10332720" cy="3059812"/>
          </a:xfrm>
          <a:prstGeom prst="rect">
            <a:avLst/>
          </a:prstGeom>
          <a:noFill/>
        </p:spPr>
        <p:txBody>
          <a:bodyPr wrap="square">
            <a:spAutoFit/>
          </a:bodyPr>
          <a:lstStyle/>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Full-stack development using the MERN Stack.</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React component design and application state management.</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REST API development with Node.js and Express.js.</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MongoDB/Mongoose schema design and CRUD operations.</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Frontend–backend–database integration using Axios.</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Validation, error handling and debugging.</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Git/GitHub repository management and documentation.</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Deployment of a full-stack application using Render.</a:t>
            </a:r>
          </a:p>
          <a:p>
            <a:pPr>
              <a:spcAft>
                <a:spcPts val="800"/>
              </a:spcAft>
              <a:defRPr sz="1550">
                <a:solidFill>
                  <a:srgbClr val="302A2A"/>
                </a:solidFill>
                <a:latin typeface="Aptos"/>
              </a:defRPr>
            </a:pPr>
            <a:r>
              <a:rPr>
                <a:latin typeface="Times New Roman" panose="02020603050405020304" pitchFamily="18" charset="0"/>
                <a:cs typeface="Times New Roman" panose="02020603050405020304" pitchFamily="18" charset="0"/>
              </a:rPr>
              <a:t>• Practical understanding of the complete application lifecycle.</a:t>
            </a:r>
          </a:p>
        </p:txBody>
      </p:sp>
      <p:sp>
        <p:nvSpPr>
          <p:cNvPr id="7" name="Rectangle 6"/>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9" name="TextBox 8"/>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91695" cy="164592"/>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594360" y="438912"/>
            <a:ext cx="3216586" cy="477054"/>
          </a:xfrm>
          <a:prstGeom prst="rect">
            <a:avLst/>
          </a:prstGeom>
          <a:noFill/>
        </p:spPr>
        <p:txBody>
          <a:bodyPr wrap="none">
            <a:spAutoFit/>
          </a:bodyPr>
          <a:lstStyle/>
          <a:p>
            <a:pPr>
              <a:defRPr sz="2500" b="1">
                <a:solidFill>
                  <a:srgbClr val="581423"/>
                </a:solidFill>
                <a:latin typeface="Aptos Display"/>
              </a:defRPr>
            </a:pPr>
            <a:r>
              <a:rPr>
                <a:latin typeface="Times New Roman" panose="02020603050405020304" pitchFamily="18" charset="0"/>
                <a:cs typeface="Times New Roman" panose="02020603050405020304" pitchFamily="18" charset="0"/>
              </a:rPr>
              <a:t>Future Enhancements</a:t>
            </a:r>
          </a:p>
        </p:txBody>
      </p:sp>
      <p:sp>
        <p:nvSpPr>
          <p:cNvPr id="5" name="TextBox 4"/>
          <p:cNvSpPr txBox="1"/>
          <p:nvPr/>
        </p:nvSpPr>
        <p:spPr>
          <a:xfrm>
            <a:off x="621792" y="932688"/>
            <a:ext cx="3470822" cy="269304"/>
          </a:xfrm>
          <a:prstGeom prst="rect">
            <a:avLst/>
          </a:prstGeom>
          <a:noFill/>
        </p:spPr>
        <p:txBody>
          <a:bodyPr wrap="none">
            <a:spAutoFit/>
          </a:bodyPr>
          <a:lstStyle/>
          <a:p>
            <a:pPr>
              <a:defRPr sz="1150">
                <a:solidFill>
                  <a:srgbClr val="6F6363"/>
                </a:solidFill>
                <a:latin typeface="Aptos"/>
              </a:defRPr>
            </a:pPr>
            <a:r>
              <a:rPr>
                <a:latin typeface="Times New Roman" panose="02020603050405020304" pitchFamily="18" charset="0"/>
                <a:cs typeface="Times New Roman" panose="02020603050405020304" pitchFamily="18" charset="0"/>
              </a:rPr>
              <a:t>Possible extensions beyond the two-week project scope</a:t>
            </a:r>
          </a:p>
        </p:txBody>
      </p:sp>
      <p:sp>
        <p:nvSpPr>
          <p:cNvPr id="6" name="Rounded Rectangle 5"/>
          <p:cNvSpPr/>
          <p:nvPr/>
        </p:nvSpPr>
        <p:spPr>
          <a:xfrm>
            <a:off x="594360" y="123444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594360" y="1234440"/>
            <a:ext cx="73152" cy="11430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795528" y="139903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01</a:t>
            </a:r>
          </a:p>
        </p:txBody>
      </p:sp>
      <p:sp>
        <p:nvSpPr>
          <p:cNvPr id="9" name="TextBox 8"/>
          <p:cNvSpPr txBox="1"/>
          <p:nvPr/>
        </p:nvSpPr>
        <p:spPr>
          <a:xfrm>
            <a:off x="795528" y="182880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User authentication and authorization</a:t>
            </a:r>
          </a:p>
        </p:txBody>
      </p:sp>
      <p:sp>
        <p:nvSpPr>
          <p:cNvPr id="10" name="Rounded Rectangle 9"/>
          <p:cNvSpPr/>
          <p:nvPr/>
        </p:nvSpPr>
        <p:spPr>
          <a:xfrm>
            <a:off x="4434840" y="123444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Rectangle 10"/>
          <p:cNvSpPr/>
          <p:nvPr/>
        </p:nvSpPr>
        <p:spPr>
          <a:xfrm>
            <a:off x="4434840" y="1234440"/>
            <a:ext cx="73152" cy="11430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 name="TextBox 11"/>
          <p:cNvSpPr txBox="1"/>
          <p:nvPr/>
        </p:nvSpPr>
        <p:spPr>
          <a:xfrm>
            <a:off x="4636008" y="139903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02</a:t>
            </a:r>
          </a:p>
        </p:txBody>
      </p:sp>
      <p:sp>
        <p:nvSpPr>
          <p:cNvPr id="13" name="TextBox 12"/>
          <p:cNvSpPr txBox="1"/>
          <p:nvPr/>
        </p:nvSpPr>
        <p:spPr>
          <a:xfrm>
            <a:off x="4636008" y="182880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Role-based access for different users</a:t>
            </a:r>
          </a:p>
        </p:txBody>
      </p:sp>
      <p:sp>
        <p:nvSpPr>
          <p:cNvPr id="14" name="Rounded Rectangle 13"/>
          <p:cNvSpPr/>
          <p:nvPr/>
        </p:nvSpPr>
        <p:spPr>
          <a:xfrm>
            <a:off x="8275320" y="123444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ectangle 14"/>
          <p:cNvSpPr/>
          <p:nvPr/>
        </p:nvSpPr>
        <p:spPr>
          <a:xfrm>
            <a:off x="8275320" y="1234440"/>
            <a:ext cx="73152" cy="11430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8476488" y="139903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03</a:t>
            </a:r>
          </a:p>
        </p:txBody>
      </p:sp>
      <p:sp>
        <p:nvSpPr>
          <p:cNvPr id="17" name="TextBox 16"/>
          <p:cNvSpPr txBox="1"/>
          <p:nvPr/>
        </p:nvSpPr>
        <p:spPr>
          <a:xfrm>
            <a:off x="8476488" y="182880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Marks, grades and attendance management</a:t>
            </a:r>
          </a:p>
        </p:txBody>
      </p:sp>
      <p:sp>
        <p:nvSpPr>
          <p:cNvPr id="18" name="Rounded Rectangle 17"/>
          <p:cNvSpPr/>
          <p:nvPr/>
        </p:nvSpPr>
        <p:spPr>
          <a:xfrm>
            <a:off x="594360" y="265176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Rectangle 18"/>
          <p:cNvSpPr/>
          <p:nvPr/>
        </p:nvSpPr>
        <p:spPr>
          <a:xfrm>
            <a:off x="594360" y="2651760"/>
            <a:ext cx="73152" cy="11430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795528" y="281635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04</a:t>
            </a:r>
          </a:p>
        </p:txBody>
      </p:sp>
      <p:sp>
        <p:nvSpPr>
          <p:cNvPr id="21" name="TextBox 20"/>
          <p:cNvSpPr txBox="1"/>
          <p:nvPr/>
        </p:nvSpPr>
        <p:spPr>
          <a:xfrm>
            <a:off x="795528" y="324612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Advanced reports and dashboard analytics</a:t>
            </a:r>
          </a:p>
        </p:txBody>
      </p:sp>
      <p:sp>
        <p:nvSpPr>
          <p:cNvPr id="22" name="Rounded Rectangle 21"/>
          <p:cNvSpPr/>
          <p:nvPr/>
        </p:nvSpPr>
        <p:spPr>
          <a:xfrm>
            <a:off x="4434840" y="265176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Rectangle 22"/>
          <p:cNvSpPr/>
          <p:nvPr/>
        </p:nvSpPr>
        <p:spPr>
          <a:xfrm>
            <a:off x="4434840" y="2651760"/>
            <a:ext cx="73152" cy="11430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4636008" y="281635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05</a:t>
            </a:r>
          </a:p>
        </p:txBody>
      </p:sp>
      <p:sp>
        <p:nvSpPr>
          <p:cNvPr id="25" name="TextBox 24"/>
          <p:cNvSpPr txBox="1"/>
          <p:nvPr/>
        </p:nvSpPr>
        <p:spPr>
          <a:xfrm>
            <a:off x="4636008" y="324612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Advanced multi-criteria search</a:t>
            </a:r>
          </a:p>
        </p:txBody>
      </p:sp>
      <p:sp>
        <p:nvSpPr>
          <p:cNvPr id="26" name="Rounded Rectangle 25"/>
          <p:cNvSpPr/>
          <p:nvPr/>
        </p:nvSpPr>
        <p:spPr>
          <a:xfrm>
            <a:off x="8275320" y="265176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Rectangle 26"/>
          <p:cNvSpPr/>
          <p:nvPr/>
        </p:nvSpPr>
        <p:spPr>
          <a:xfrm>
            <a:off x="8275320" y="2651760"/>
            <a:ext cx="73152" cy="11430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8476488" y="281635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06</a:t>
            </a:r>
          </a:p>
        </p:txBody>
      </p:sp>
      <p:sp>
        <p:nvSpPr>
          <p:cNvPr id="29" name="TextBox 28"/>
          <p:cNvSpPr txBox="1"/>
          <p:nvPr/>
        </p:nvSpPr>
        <p:spPr>
          <a:xfrm>
            <a:off x="8476488" y="324612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Notifications</a:t>
            </a:r>
          </a:p>
        </p:txBody>
      </p:sp>
      <p:sp>
        <p:nvSpPr>
          <p:cNvPr id="30" name="Rounded Rectangle 29"/>
          <p:cNvSpPr/>
          <p:nvPr/>
        </p:nvSpPr>
        <p:spPr>
          <a:xfrm>
            <a:off x="594360" y="406908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Rectangle 30"/>
          <p:cNvSpPr/>
          <p:nvPr/>
        </p:nvSpPr>
        <p:spPr>
          <a:xfrm>
            <a:off x="594360" y="4069080"/>
            <a:ext cx="73152" cy="1143000"/>
          </a:xfrm>
          <a:prstGeom prst="rect">
            <a:avLst/>
          </a:prstGeom>
          <a:solidFill>
            <a:srgbClr val="58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795528" y="423367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07</a:t>
            </a:r>
          </a:p>
        </p:txBody>
      </p:sp>
      <p:sp>
        <p:nvSpPr>
          <p:cNvPr id="33" name="TextBox 32"/>
          <p:cNvSpPr txBox="1"/>
          <p:nvPr/>
        </p:nvSpPr>
        <p:spPr>
          <a:xfrm>
            <a:off x="795528" y="466344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Automated unit and integration testing</a:t>
            </a:r>
          </a:p>
        </p:txBody>
      </p:sp>
      <p:sp>
        <p:nvSpPr>
          <p:cNvPr id="34" name="Rounded Rectangle 33"/>
          <p:cNvSpPr/>
          <p:nvPr/>
        </p:nvSpPr>
        <p:spPr>
          <a:xfrm>
            <a:off x="4434840" y="406908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Rectangle 34"/>
          <p:cNvSpPr/>
          <p:nvPr/>
        </p:nvSpPr>
        <p:spPr>
          <a:xfrm>
            <a:off x="4434840" y="4069080"/>
            <a:ext cx="73152" cy="1143000"/>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TextBox 35"/>
          <p:cNvSpPr txBox="1"/>
          <p:nvPr/>
        </p:nvSpPr>
        <p:spPr>
          <a:xfrm>
            <a:off x="4636008" y="423367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08</a:t>
            </a:r>
          </a:p>
        </p:txBody>
      </p:sp>
      <p:sp>
        <p:nvSpPr>
          <p:cNvPr id="37" name="TextBox 36"/>
          <p:cNvSpPr txBox="1"/>
          <p:nvPr/>
        </p:nvSpPr>
        <p:spPr>
          <a:xfrm>
            <a:off x="4636008" y="466344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Production monitoring and CI/CD</a:t>
            </a:r>
          </a:p>
        </p:txBody>
      </p:sp>
      <p:sp>
        <p:nvSpPr>
          <p:cNvPr id="38" name="Rounded Rectangle 37"/>
          <p:cNvSpPr/>
          <p:nvPr/>
        </p:nvSpPr>
        <p:spPr>
          <a:xfrm>
            <a:off x="8275320" y="4069080"/>
            <a:ext cx="3566160" cy="1143000"/>
          </a:xfrm>
          <a:prstGeom prst="roundRect">
            <a:avLst/>
          </a:prstGeom>
          <a:solidFill>
            <a:srgbClr val="FFFFFF"/>
          </a:solidFill>
          <a:ln>
            <a:solidFill>
              <a:srgbClr val="E1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Rectangle 38"/>
          <p:cNvSpPr/>
          <p:nvPr/>
        </p:nvSpPr>
        <p:spPr>
          <a:xfrm>
            <a:off x="8275320" y="4069080"/>
            <a:ext cx="73152" cy="1143000"/>
          </a:xfrm>
          <a:prstGeom prst="rect">
            <a:avLst/>
          </a:prstGeom>
          <a:solidFill>
            <a:srgbClr val="7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8476488" y="4233672"/>
            <a:ext cx="364202" cy="307777"/>
          </a:xfrm>
          <a:prstGeom prst="rect">
            <a:avLst/>
          </a:prstGeom>
          <a:noFill/>
        </p:spPr>
        <p:txBody>
          <a:bodyPr wrap="none">
            <a:spAutoFit/>
          </a:bodyPr>
          <a:lstStyle/>
          <a:p>
            <a:pPr>
              <a:defRPr sz="1400" b="1">
                <a:solidFill>
                  <a:srgbClr val="581423"/>
                </a:solidFill>
                <a:latin typeface="Aptos Display"/>
              </a:defRPr>
            </a:pPr>
            <a:r>
              <a:rPr>
                <a:latin typeface="Times New Roman" panose="02020603050405020304" pitchFamily="18" charset="0"/>
                <a:cs typeface="Times New Roman" panose="02020603050405020304" pitchFamily="18" charset="0"/>
              </a:rPr>
              <a:t>09</a:t>
            </a:r>
          </a:p>
        </p:txBody>
      </p:sp>
      <p:sp>
        <p:nvSpPr>
          <p:cNvPr id="41" name="TextBox 40"/>
          <p:cNvSpPr txBox="1"/>
          <p:nvPr/>
        </p:nvSpPr>
        <p:spPr>
          <a:xfrm>
            <a:off x="8476488" y="4663440"/>
            <a:ext cx="3200400" cy="280077"/>
          </a:xfrm>
          <a:prstGeom prst="rect">
            <a:avLst/>
          </a:prstGeom>
          <a:noFill/>
        </p:spPr>
        <p:txBody>
          <a:bodyPr wrap="square">
            <a:spAutoFit/>
          </a:bodyPr>
          <a:lstStyle/>
          <a:p>
            <a:pPr>
              <a:defRPr sz="1220">
                <a:solidFill>
                  <a:srgbClr val="302A2A"/>
                </a:solidFill>
                <a:latin typeface="Aptos"/>
              </a:defRPr>
            </a:pPr>
            <a:r>
              <a:rPr>
                <a:latin typeface="Times New Roman" panose="02020603050405020304" pitchFamily="18" charset="0"/>
                <a:cs typeface="Times New Roman" panose="02020603050405020304" pitchFamily="18" charset="0"/>
              </a:rPr>
              <a:t>Further mobile-friendly optimization</a:t>
            </a:r>
          </a:p>
        </p:txBody>
      </p:sp>
      <p:sp>
        <p:nvSpPr>
          <p:cNvPr id="42" name="Rectangle 41"/>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3" name="TextBox 42"/>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44" name="TextBox 43"/>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822960" y="914400"/>
            <a:ext cx="2789546" cy="553998"/>
          </a:xfrm>
          <a:prstGeom prst="rect">
            <a:avLst/>
          </a:prstGeom>
          <a:noFill/>
        </p:spPr>
        <p:txBody>
          <a:bodyPr wrap="none">
            <a:spAutoFit/>
          </a:bodyPr>
          <a:lstStyle/>
          <a:p>
            <a:pPr>
              <a:defRPr sz="3000" b="1">
                <a:solidFill>
                  <a:srgbClr val="C9A45B"/>
                </a:solidFill>
                <a:latin typeface="Aptos Display"/>
              </a:defRPr>
            </a:pPr>
            <a:r>
              <a:rPr>
                <a:latin typeface="Times New Roman" panose="02020603050405020304" pitchFamily="18" charset="0"/>
                <a:cs typeface="Times New Roman" panose="02020603050405020304" pitchFamily="18" charset="0"/>
              </a:rPr>
              <a:t>CONCLUSION</a:t>
            </a:r>
          </a:p>
        </p:txBody>
      </p:sp>
      <p:sp>
        <p:nvSpPr>
          <p:cNvPr id="4" name="TextBox 3"/>
          <p:cNvSpPr txBox="1"/>
          <p:nvPr/>
        </p:nvSpPr>
        <p:spPr>
          <a:xfrm>
            <a:off x="822960" y="1691640"/>
            <a:ext cx="10424160" cy="2328843"/>
          </a:xfrm>
          <a:prstGeom prst="rect">
            <a:avLst/>
          </a:prstGeom>
          <a:noFill/>
        </p:spPr>
        <p:txBody>
          <a:bodyPr wrap="square">
            <a:spAutoFit/>
          </a:bodyPr>
          <a:lstStyle/>
          <a:p>
            <a:pPr>
              <a:spcAft>
                <a:spcPts val="1300"/>
              </a:spcAft>
              <a:defRPr sz="1700">
                <a:solidFill>
                  <a:srgbClr val="FFFFFF"/>
                </a:solidFill>
                <a:latin typeface="Aptos"/>
              </a:defRPr>
            </a:pPr>
            <a:r>
              <a:rPr>
                <a:latin typeface="Times New Roman" panose="02020603050405020304" pitchFamily="18" charset="0"/>
                <a:cs typeface="Times New Roman" panose="02020603050405020304" pitchFamily="18" charset="0"/>
              </a:rPr>
              <a:t>• The Student Management System was developed as a complete MERN Stack internship mini project.</a:t>
            </a:r>
          </a:p>
          <a:p>
            <a:pPr>
              <a:spcAft>
                <a:spcPts val="1300"/>
              </a:spcAft>
              <a:defRPr sz="1700">
                <a:solidFill>
                  <a:srgbClr val="FFFFFF"/>
                </a:solidFill>
                <a:latin typeface="Aptos"/>
              </a:defRPr>
            </a:pPr>
            <a:r>
              <a:rPr>
                <a:latin typeface="Times New Roman" panose="02020603050405020304" pitchFamily="18" charset="0"/>
                <a:cs typeface="Times New Roman" panose="02020603050405020304" pitchFamily="18" charset="0"/>
              </a:rPr>
              <a:t>• The application implements the required student record operations along with search, filtering, pagination and validation.</a:t>
            </a:r>
          </a:p>
          <a:p>
            <a:pPr>
              <a:spcAft>
                <a:spcPts val="1300"/>
              </a:spcAft>
              <a:defRPr sz="1700">
                <a:solidFill>
                  <a:srgbClr val="FFFFFF"/>
                </a:solidFill>
                <a:latin typeface="Aptos"/>
              </a:defRPr>
            </a:pPr>
            <a:r>
              <a:rPr>
                <a:latin typeface="Times New Roman" panose="02020603050405020304" pitchFamily="18" charset="0"/>
                <a:cs typeface="Times New Roman" panose="02020603050405020304" pitchFamily="18" charset="0"/>
              </a:rPr>
              <a:t>• The project connected React.js, Express.js, Node.js and MongoDB Atlas through REST APIs and Axios.</a:t>
            </a:r>
          </a:p>
          <a:p>
            <a:pPr>
              <a:spcAft>
                <a:spcPts val="1300"/>
              </a:spcAft>
              <a:defRPr sz="1700">
                <a:solidFill>
                  <a:srgbClr val="FFFFFF"/>
                </a:solidFill>
                <a:latin typeface="Aptos"/>
              </a:defRPr>
            </a:pPr>
            <a:r>
              <a:rPr>
                <a:latin typeface="Times New Roman" panose="02020603050405020304" pitchFamily="18" charset="0"/>
                <a:cs typeface="Times New Roman" panose="02020603050405020304" pitchFamily="18" charset="0"/>
              </a:rPr>
              <a:t>• Testing, documentation, GitHub version control and Render deployment completed the development lifecycle.</a:t>
            </a:r>
          </a:p>
          <a:p>
            <a:pPr>
              <a:spcAft>
                <a:spcPts val="1300"/>
              </a:spcAft>
              <a:defRPr sz="1700">
                <a:solidFill>
                  <a:srgbClr val="FFFFFF"/>
                </a:solidFill>
                <a:latin typeface="Aptos"/>
              </a:defRPr>
            </a:pPr>
            <a:r>
              <a:rPr>
                <a:latin typeface="Times New Roman" panose="02020603050405020304" pitchFamily="18" charset="0"/>
                <a:cs typeface="Times New Roman" panose="02020603050405020304" pitchFamily="18" charset="0"/>
              </a:rPr>
              <a:t>• The project provided practical experience in building, debugging, testing and deploying a full-stack web application.</a:t>
            </a:r>
          </a:p>
        </p:txBody>
      </p:sp>
      <p:sp>
        <p:nvSpPr>
          <p:cNvPr id="5" name="TextBox 4"/>
          <p:cNvSpPr txBox="1"/>
          <p:nvPr/>
        </p:nvSpPr>
        <p:spPr>
          <a:xfrm>
            <a:off x="822960" y="5394960"/>
            <a:ext cx="1535485" cy="461665"/>
          </a:xfrm>
          <a:prstGeom prst="rect">
            <a:avLst/>
          </a:prstGeom>
          <a:noFill/>
        </p:spPr>
        <p:txBody>
          <a:bodyPr wrap="none">
            <a:spAutoFit/>
          </a:bodyPr>
          <a:lstStyle/>
          <a:p>
            <a:pPr>
              <a:defRPr sz="2400">
                <a:solidFill>
                  <a:srgbClr val="C9A45B"/>
                </a:solidFill>
                <a:latin typeface="Aptos Display"/>
              </a:defRPr>
            </a:pPr>
            <a:r>
              <a:rPr>
                <a:latin typeface="Times New Roman" panose="02020603050405020304" pitchFamily="18" charset="0"/>
                <a:cs typeface="Times New Roman" panose="02020603050405020304" pitchFamily="18" charset="0"/>
              </a:rPr>
              <a:t>Thank You</a:t>
            </a:r>
          </a:p>
        </p:txBody>
      </p:sp>
      <p:sp>
        <p:nvSpPr>
          <p:cNvPr id="6" name="Rectangle 5"/>
          <p:cNvSpPr/>
          <p:nvPr/>
        </p:nvSpPr>
        <p:spPr>
          <a:xfrm>
            <a:off x="594360" y="6519672"/>
            <a:ext cx="10972800" cy="13716"/>
          </a:xfrm>
          <a:prstGeom prst="rect">
            <a:avLst/>
          </a:prstGeom>
          <a:solidFill>
            <a:srgbClr val="C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21792" y="6556248"/>
            <a:ext cx="2951449" cy="215444"/>
          </a:xfrm>
          <a:prstGeom prst="rect">
            <a:avLst/>
          </a:prstGeom>
          <a:noFill/>
        </p:spPr>
        <p:txBody>
          <a:bodyPr wrap="none">
            <a:spAutoFit/>
          </a:bodyPr>
          <a:lstStyle/>
          <a:p>
            <a:pPr>
              <a:defRPr sz="800">
                <a:solidFill>
                  <a:srgbClr val="6F6363"/>
                </a:solidFill>
                <a:latin typeface="Aptos"/>
              </a:defRPr>
            </a:pPr>
            <a:r>
              <a:rPr>
                <a:latin typeface="Times New Roman" panose="02020603050405020304" pitchFamily="18" charset="0"/>
                <a:cs typeface="Times New Roman" panose="02020603050405020304" pitchFamily="18" charset="0"/>
              </a:rPr>
              <a:t>AITechGen Technologies Pvt. Ltd.  |  Student Management System</a:t>
            </a:r>
          </a:p>
        </p:txBody>
      </p:sp>
      <p:sp>
        <p:nvSpPr>
          <p:cNvPr id="8" name="TextBox 7"/>
          <p:cNvSpPr txBox="1"/>
          <p:nvPr/>
        </p:nvSpPr>
        <p:spPr>
          <a:xfrm>
            <a:off x="11221358" y="6519672"/>
            <a:ext cx="300082" cy="230832"/>
          </a:xfrm>
          <a:prstGeom prst="rect">
            <a:avLst/>
          </a:prstGeom>
          <a:noFill/>
        </p:spPr>
        <p:txBody>
          <a:bodyPr wrap="none">
            <a:spAutoFit/>
          </a:bodyPr>
          <a:lstStyle/>
          <a:p>
            <a:pPr algn="r">
              <a:defRPr sz="900" b="1">
                <a:solidFill>
                  <a:srgbClr val="581423"/>
                </a:solidFill>
                <a:latin typeface="Aptos"/>
              </a:defRPr>
            </a:pPr>
            <a:r>
              <a:rPr>
                <a:latin typeface="Times New Roman" panose="02020603050405020304" pitchFamily="18" charset="0"/>
                <a:cs typeface="Times New Roman" panose="02020603050405020304" pitchFamily="18" charset="0"/>
              </a:rPr>
              <a:t>17</a:t>
            </a:r>
          </a:p>
        </p:txBody>
      </p:sp>
      <p:sp>
        <p:nvSpPr>
          <p:cNvPr id="10" name="TextBox 9">
            <a:extLst>
              <a:ext uri="{FF2B5EF4-FFF2-40B4-BE49-F238E27FC236}">
                <a16:creationId xmlns:a16="http://schemas.microsoft.com/office/drawing/2014/main" id="{DC7408B4-930E-98B7-B002-1FED3012397F}"/>
              </a:ext>
            </a:extLst>
          </p:cNvPr>
          <p:cNvSpPr txBox="1"/>
          <p:nvPr/>
        </p:nvSpPr>
        <p:spPr>
          <a:xfrm>
            <a:off x="822960" y="4375753"/>
            <a:ext cx="7420708" cy="615553"/>
          </a:xfrm>
          <a:prstGeom prst="rect">
            <a:avLst/>
          </a:prstGeom>
          <a:noFill/>
        </p:spPr>
        <p:txBody>
          <a:bodyPr wrap="square" rtlCol="0">
            <a:spAutoFit/>
          </a:bodyPr>
          <a:lstStyle/>
          <a:p>
            <a:r>
              <a:rPr lang="en-US" sz="1600" dirty="0">
                <a:solidFill>
                  <a:schemeClr val="bg1"/>
                </a:solidFill>
                <a:latin typeface="Times New Roman" panose="02020603050405020304" pitchFamily="18" charset="0"/>
                <a:cs typeface="Times New Roman" panose="02020603050405020304" pitchFamily="18" charset="0"/>
              </a:rPr>
              <a:t>GitHub Repository: </a:t>
            </a:r>
            <a:r>
              <a:rPr lang="en-US" sz="1600" dirty="0">
                <a:latin typeface="Times New Roman" panose="02020603050405020304" pitchFamily="18" charset="0"/>
                <a:cs typeface="Times New Roman" panose="02020603050405020304" pitchFamily="18" charset="0"/>
                <a:hlinkClick r:id="rId2"/>
              </a:rPr>
              <a:t>https://github.com/kruthikasrinivasa/student-management-system</a:t>
            </a:r>
            <a:endParaRPr lang="en-US" sz="16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TotalTime>
  <Words>1527</Words>
  <Application>Microsoft Office PowerPoint</Application>
  <PresentationFormat>Widescreen</PresentationFormat>
  <Paragraphs>227</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Win 11</dc:creator>
  <cp:keywords/>
  <dc:description>generated using python-pptx</dc:description>
  <cp:lastModifiedBy>KRUTHIKA SRINIVASA</cp:lastModifiedBy>
  <cp:revision>3</cp:revision>
  <dcterms:created xsi:type="dcterms:W3CDTF">2013-01-27T09:14:16Z</dcterms:created>
  <dcterms:modified xsi:type="dcterms:W3CDTF">2026-09-21T11:58:03Z</dcterms:modified>
  <cp:category/>
</cp:coreProperties>
</file>